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embeddedFontLst>
    <p:embeddedFont>
      <p:font typeface="Calibri" panose="020F0502020204030204" pitchFamily="34" charset="0"/>
      <p:regular r:id="rId11"/>
      <p:bold r:id="rId12"/>
      <p:italic r:id="rId13"/>
      <p:boldItalic r:id="rId14"/>
    </p:embeddedFont>
    <p:embeddedFont>
      <p:font typeface="Poppins" panose="00000500000000000000" pitchFamily="2" charset="0"/>
      <p:regular r:id="rId15"/>
      <p:bold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789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trabajo de investigación de la Unidad III, III Cuatrimestre 2026. Construimos un monitor en PowerShell y una aplicación web para ver cómo cambia la memoria de los procesos en Windows durante una prueba controlada.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de investigación: qué indicadores de memoria y de proceso permiten identificar comportamientos anómalos en Windows, y qué defensas protegen las credenciales. Estos cuatro conceptos son la base para leer los resultados. Hipótesis: varias mediciones de memoria privada permiten detectar el crecimiento de nuestra simulación.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flujo es sencillo: PowerShell recopila, guarda en JSON y la página web lee ese archivo dentro del navegador, sin instalar un servidor. Usamos memoria privada porque es mejor señal de fuga que el working set, que sube y baja según lo que Windows decida mantener en RAM.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Corrimos dos ventanas de PowerShell como administrador. El simulador es un programa propio que reserva memoria dentro de su propio proceso, con tope de 300 MB. El monitor tomó muestras cada 5 segundos durante 120 segundos. Las 3184 muestras son registros de distintos procesos, no 3184 momentos diferentes. Probamos además archivos JSON vacíos e incompletos: la aplicación mostró un error claro y borró los resultados anteriores.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gráfico sale de las mediciones reales del JSON. El crecimiento coincide con el simulador: pasos de 20 MB hasta 300 MB. Usamos memoria privada porque es mejor indicador de fuga que el working set.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monitor busca aumentos sostenidos durante seis muestras. La página compara la primera y la última medición del proceso, con un umbral ajustable (usamos 50 %). Por eso los porcentajes no coinciden. Las alertas originales van en rojo y las detecciones adicionales de la web en amarillo.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LSASS participa en el inicio de sesión de Windows y por eso necesita protección. En nuestro equipo LSA Protection apareció activa y Credential Guard inactivo. Ninguna defensa asegura por sí sola que el equipo esté libre de amenazas.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resultados apoyan la hipótesis dentro de esta prueba. Los límites: solo hay una simulación, sin comparación con un equipo funcionando normalmente, y el entorno de laboratorio no está totalmente documentado. Cerrar con preguntas.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94739"/>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1F2A44"/>
                </a:solidFill>
                <a:latin typeface="Poppins" pitchFamily="34" charset="0"/>
                <a:ea typeface="Poppins" pitchFamily="34" charset="-122"/>
                <a:cs typeface="Poppi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46579"/>
            <a:ext cx="10566400" cy="4198621"/>
          </a:xfrm>
          <a:prstGeom prst="rect">
            <a:avLst/>
          </a:prstGeom>
          <a:noFill/>
          <a:ln/>
        </p:spPr>
        <p:txBody>
          <a:bodyPr wrap="square" lIns="0" tIns="0" rIns="0" bIns="0" rtlCol="0" anchor="t"/>
          <a:lstStyle>
            <a:lvl1pPr marL="0" indent="0" algn="l">
              <a:lnSpc>
                <a:spcPct val="140000"/>
              </a:lnSpc>
              <a:buNone/>
              <a:defRPr lang="en-US" sz="1600" dirty="0">
                <a:solidFill>
                  <a:srgbClr val="4F6BFA"/>
                </a:solidFill>
                <a:latin typeface="Poppins" pitchFamily="34" charset="0"/>
                <a:ea typeface="Poppins" pitchFamily="34" charset="-122"/>
                <a:cs typeface="Poppi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94739"/>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1F2A44"/>
                </a:solidFill>
                <a:latin typeface="Poppins" pitchFamily="34" charset="0"/>
                <a:ea typeface="Poppins" pitchFamily="34" charset="-122"/>
                <a:cs typeface="Poppi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46579"/>
            <a:ext cx="10566400" cy="4198621"/>
          </a:xfrm>
          <a:prstGeom prst="rect">
            <a:avLst/>
          </a:prstGeom>
          <a:noFill/>
          <a:ln/>
        </p:spPr>
        <p:txBody>
          <a:bodyPr wrap="square" lIns="0" tIns="0" rIns="0" bIns="0" rtlCol="0" anchor="t"/>
          <a:lstStyle>
            <a:lvl1pPr marL="0" indent="0" algn="l">
              <a:lnSpc>
                <a:spcPct val="140000"/>
              </a:lnSpc>
              <a:buNone/>
              <a:defRPr lang="en-US" sz="1600" dirty="0">
                <a:solidFill>
                  <a:srgbClr val="4F6BFA"/>
                </a:solidFill>
                <a:latin typeface="Poppins" pitchFamily="34" charset="0"/>
                <a:ea typeface="Poppins" pitchFamily="34" charset="-122"/>
                <a:cs typeface="Poppi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gradFill rotWithShape="1">
            <a:gsLst>
              <a:gs pos="0">
                <a:srgbClr val="F0F6FF"/>
              </a:gs>
              <a:gs pos="100000">
                <a:srgbClr val="63A4FA"/>
              </a:gs>
            </a:gsLst>
            <a:lin ang="5400000" scaled="0"/>
          </a:gradFill>
          <a:ln/>
        </p:spPr>
      </p:sp>
      <p:sp>
        <p:nvSpPr>
          <p:cNvPr id="3" name="Shape 1"/>
          <p:cNvSpPr/>
          <p:nvPr/>
        </p:nvSpPr>
        <p:spPr>
          <a:xfrm>
            <a:off x="6997700" y="825500"/>
            <a:ext cx="2260600" cy="2260600"/>
          </a:xfrm>
          <a:prstGeom prst="roundRect">
            <a:avLst>
              <a:gd name="adj" fmla="val 50000"/>
            </a:avLst>
          </a:prstGeom>
          <a:noFill/>
          <a:ln w="25400">
            <a:solidFill>
              <a:srgbClr val="63A4FA"/>
            </a:solidFill>
            <a:prstDash val="solid"/>
          </a:ln>
        </p:spPr>
      </p:sp>
      <p:sp>
        <p:nvSpPr>
          <p:cNvPr id="4" name="Shape 2"/>
          <p:cNvSpPr/>
          <p:nvPr/>
        </p:nvSpPr>
        <p:spPr>
          <a:xfrm>
            <a:off x="7620000" y="1524000"/>
            <a:ext cx="3429000" cy="3429000"/>
          </a:xfrm>
          <a:prstGeom prst="roundRect">
            <a:avLst>
              <a:gd name="adj" fmla="val 47407"/>
            </a:avLst>
          </a:prstGeom>
          <a:gradFill rotWithShape="1">
            <a:gsLst>
              <a:gs pos="0">
                <a:srgbClr val="63A4FA"/>
              </a:gs>
              <a:gs pos="100000">
                <a:srgbClr val="EAF3FF"/>
              </a:gs>
            </a:gsLst>
            <a:lin ang="5400000" scaled="0"/>
          </a:gradFill>
          <a:ln/>
        </p:spPr>
      </p:sp>
      <p:sp>
        <p:nvSpPr>
          <p:cNvPr id="5" name="Text 3"/>
          <p:cNvSpPr>
            <a:spLocks noGrp="1"/>
          </p:cNvSpPr>
          <p:nvPr>
            <p:ph type="title"/>
          </p:nvPr>
        </p:nvSpPr>
        <p:spPr>
          <a:xfrm>
            <a:off x="812800" y="1184910"/>
            <a:ext cx="6867525" cy="2540000"/>
          </a:xfrm>
          <a:prstGeom prst="rect">
            <a:avLst/>
          </a:prstGeom>
          <a:noFill/>
          <a:ln/>
        </p:spPr>
        <p:txBody>
          <a:bodyPr wrap="square" lIns="0" tIns="0" rIns="0" bIns="0" rtlCol="0" anchor="t">
            <a:normAutofit/>
          </a:bodyPr>
          <a:lstStyle/>
          <a:p>
            <a:pPr marL="0" indent="0" algn="l">
              <a:lnSpc>
                <a:spcPts val="6600"/>
              </a:lnSpc>
              <a:buNone/>
            </a:pPr>
            <a:r>
              <a:rPr lang="en-US" sz="6000" b="1" i="0" kern="0" spc="-150" dirty="0">
                <a:solidFill>
                  <a:srgbClr val="4F6BFA"/>
                </a:solidFill>
                <a:latin typeface="Poppins" pitchFamily="34" charset="0"/>
                <a:ea typeface="Poppins" pitchFamily="34" charset="-122"/>
                <a:cs typeface="Poppins" pitchFamily="34" charset="-120"/>
              </a:rPr>
              <a:t>Memoria y procesos sospechosos</a:t>
            </a:r>
            <a:endParaRPr lang="en-US" sz="6000" dirty="0"/>
          </a:p>
        </p:txBody>
      </p:sp>
      <p:sp>
        <p:nvSpPr>
          <p:cNvPr id="6" name="Text 4"/>
          <p:cNvSpPr/>
          <p:nvPr/>
        </p:nvSpPr>
        <p:spPr>
          <a:xfrm>
            <a:off x="812800" y="395351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4F6BFA"/>
                </a:solidFill>
                <a:latin typeface="Poppins" pitchFamily="34" charset="0"/>
                <a:ea typeface="Poppins" pitchFamily="34" charset="-122"/>
                <a:cs typeface="Poppins" pitchFamily="34" charset="-120"/>
              </a:rPr>
              <a:t>Universidad Técnica Nacional · ISW-612</a:t>
            </a:r>
            <a:endParaRPr lang="en-US" sz="1500" dirty="0"/>
          </a:p>
        </p:txBody>
      </p:sp>
      <p:pic>
        <p:nvPicPr>
          <p:cNvPr id="7" name="Image 0" descr="line"/>
          <p:cNvPicPr>
            <a:picLocks noChangeAspect="1"/>
          </p:cNvPicPr>
          <p:nvPr/>
        </p:nvPicPr>
        <p:blipFill>
          <a:blip r:embed="rId3"/>
          <a:srcRect/>
          <a:stretch/>
        </p:blipFill>
        <p:spPr>
          <a:xfrm>
            <a:off x="812800" y="4321810"/>
            <a:ext cx="2032000" cy="12700"/>
          </a:xfrm>
          <a:prstGeom prst="rect">
            <a:avLst/>
          </a:prstGeom>
        </p:spPr>
      </p:pic>
      <p:sp>
        <p:nvSpPr>
          <p:cNvPr id="8" name="Text 5"/>
          <p:cNvSpPr/>
          <p:nvPr/>
        </p:nvSpPr>
        <p:spPr>
          <a:xfrm>
            <a:off x="812800" y="443611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4F6BFA"/>
                </a:solidFill>
                <a:latin typeface="Poppins" pitchFamily="34" charset="0"/>
                <a:ea typeface="Poppins" pitchFamily="34" charset="-122"/>
                <a:cs typeface="Poppins" pitchFamily="34" charset="-120"/>
              </a:rPr>
              <a:t>Profesor: Marcos Castro</a:t>
            </a:r>
            <a:endParaRPr lang="en-US" sz="1500" dirty="0"/>
          </a:p>
        </p:txBody>
      </p:sp>
      <p:sp>
        <p:nvSpPr>
          <p:cNvPr id="9" name="Shape 6"/>
          <p:cNvSpPr/>
          <p:nvPr/>
        </p:nvSpPr>
        <p:spPr>
          <a:xfrm>
            <a:off x="831850" y="4956810"/>
            <a:ext cx="0" cy="716280"/>
          </a:xfrm>
          <a:prstGeom prst="line">
            <a:avLst/>
          </a:prstGeom>
          <a:noFill/>
          <a:ln w="38100">
            <a:solidFill>
              <a:srgbClr val="63A4FA"/>
            </a:solidFill>
            <a:prstDash val="solid"/>
          </a:ln>
        </p:spPr>
      </p:sp>
      <p:sp>
        <p:nvSpPr>
          <p:cNvPr id="10" name="Text 7"/>
          <p:cNvSpPr/>
          <p:nvPr/>
        </p:nvSpPr>
        <p:spPr>
          <a:xfrm>
            <a:off x="1026160" y="4982210"/>
            <a:ext cx="6320739"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1F2A44"/>
                </a:solidFill>
                <a:latin typeface="Poppins" pitchFamily="34" charset="0"/>
                <a:ea typeface="Poppins" pitchFamily="34" charset="-122"/>
                <a:cs typeface="Poppins" pitchFamily="34" charset="-120"/>
              </a:rPr>
              <a:t>Angélica Varela Vargas</a:t>
            </a:r>
            <a:endParaRPr lang="en-US" sz="1800" dirty="0"/>
          </a:p>
        </p:txBody>
      </p:sp>
      <p:sp>
        <p:nvSpPr>
          <p:cNvPr id="11" name="Text 8"/>
          <p:cNvSpPr/>
          <p:nvPr/>
        </p:nvSpPr>
        <p:spPr>
          <a:xfrm>
            <a:off x="1026160" y="5327650"/>
            <a:ext cx="6320739"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1F2A44"/>
                </a:solidFill>
                <a:latin typeface="Poppins" pitchFamily="34" charset="0"/>
                <a:ea typeface="Poppins" pitchFamily="34" charset="-122"/>
                <a:cs typeface="Poppins" pitchFamily="34" charset="-120"/>
              </a:rPr>
              <a:t>Isabel María Martínez Vindas</a:t>
            </a:r>
            <a:endParaRPr lang="en-US" sz="1800" dirty="0"/>
          </a:p>
        </p:txBody>
      </p:sp>
    </p:spTree>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gradFill rotWithShape="1">
            <a:gsLst>
              <a:gs pos="0">
                <a:srgbClr val="F0F6FF"/>
              </a:gs>
              <a:gs pos="100000">
                <a:srgbClr val="63A4FA"/>
              </a:gs>
            </a:gsLst>
            <a:lin ang="5400000" scaled="0"/>
          </a:gradFill>
          <a:ln/>
        </p:spPr>
      </p:sp>
      <p:sp>
        <p:nvSpPr>
          <p:cNvPr id="4" name="Text 2"/>
          <p:cNvSpPr>
            <a:spLocks noGrp="1"/>
          </p:cNvSpPr>
          <p:nvPr>
            <p:ph type="title"/>
          </p:nvPr>
        </p:nvSpPr>
        <p:spPr>
          <a:xfrm>
            <a:off x="812800" y="109474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1F2A44"/>
                </a:solidFill>
                <a:latin typeface="Poppins" pitchFamily="34" charset="0"/>
                <a:ea typeface="Poppins" pitchFamily="34" charset="-122"/>
                <a:cs typeface="Poppins" pitchFamily="34" charset="-120"/>
              </a:rPr>
              <a:t>Conceptos</a:t>
            </a:r>
            <a:endParaRPr lang="en-US" sz="4000" dirty="0"/>
          </a:p>
        </p:txBody>
      </p:sp>
      <p:sp>
        <p:nvSpPr>
          <p:cNvPr id="5" name="Shape 3"/>
          <p:cNvSpPr/>
          <p:nvPr/>
        </p:nvSpPr>
        <p:spPr>
          <a:xfrm>
            <a:off x="812800" y="2009140"/>
            <a:ext cx="2527300" cy="2322830"/>
          </a:xfrm>
          <a:prstGeom prst="roundRect">
            <a:avLst>
              <a:gd name="adj" fmla="val 4374"/>
            </a:avLst>
          </a:prstGeom>
          <a:solidFill>
            <a:srgbClr val="F3F8FE"/>
          </a:solidFill>
          <a:ln/>
        </p:spPr>
      </p:sp>
      <p:sp>
        <p:nvSpPr>
          <p:cNvPr id="6" name="Text 4"/>
          <p:cNvSpPr/>
          <p:nvPr/>
        </p:nvSpPr>
        <p:spPr>
          <a:xfrm>
            <a:off x="984187" y="2212340"/>
            <a:ext cx="2184527" cy="295275"/>
          </a:xfrm>
          <a:prstGeom prst="rect">
            <a:avLst/>
          </a:prstGeom>
          <a:noFill/>
          <a:ln/>
        </p:spPr>
        <p:txBody>
          <a:bodyPr wrap="square" lIns="0" tIns="0" rIns="0" bIns="0" rtlCol="0" anchor="t">
            <a:normAutofit/>
          </a:bodyPr>
          <a:lstStyle/>
          <a:p>
            <a:pPr marL="0" indent="0" algn="ctr">
              <a:lnSpc>
                <a:spcPts val="2125"/>
              </a:lnSpc>
              <a:buNone/>
            </a:pPr>
            <a:r>
              <a:rPr lang="en-US" sz="1700" b="1" dirty="0">
                <a:solidFill>
                  <a:srgbClr val="1F2A44"/>
                </a:solidFill>
                <a:latin typeface="Poppins" pitchFamily="34" charset="0"/>
                <a:ea typeface="Poppins" pitchFamily="34" charset="-122"/>
                <a:cs typeface="Poppins" pitchFamily="34" charset="-120"/>
              </a:rPr>
              <a:t>Memoria privada</a:t>
            </a:r>
            <a:endParaRPr lang="en-US" sz="1700" dirty="0"/>
          </a:p>
        </p:txBody>
      </p:sp>
      <p:sp>
        <p:nvSpPr>
          <p:cNvPr id="7" name="Text 5"/>
          <p:cNvSpPr/>
          <p:nvPr/>
        </p:nvSpPr>
        <p:spPr>
          <a:xfrm>
            <a:off x="812800" y="2660015"/>
            <a:ext cx="2527300" cy="1671955"/>
          </a:xfrm>
          <a:prstGeom prst="roundRect">
            <a:avLst>
              <a:gd name="adj" fmla="val 6077"/>
            </a:avLst>
          </a:prstGeom>
          <a:solidFill>
            <a:srgbClr val="63A4FA"/>
          </a:solidFill>
          <a:ln/>
        </p:spPr>
        <p:txBody>
          <a:bodyPr wrap="square" lIns="173442" tIns="173442" rIns="109815" bIns="168997" rtlCol="0" anchor="t">
            <a:normAutofit/>
          </a:bodyPr>
          <a:lstStyle/>
          <a:p>
            <a:pPr marL="0" indent="0" algn="l">
              <a:lnSpc>
                <a:spcPts val="1960"/>
              </a:lnSpc>
              <a:buNone/>
            </a:pPr>
            <a:r>
              <a:rPr lang="en-US" sz="1400" dirty="0">
                <a:solidFill>
                  <a:srgbClr val="0F1F3D"/>
                </a:solidFill>
                <a:latin typeface="Poppins" pitchFamily="34" charset="0"/>
                <a:ea typeface="Poppins" pitchFamily="34" charset="-122"/>
                <a:cs typeface="Poppins" pitchFamily="34" charset="-120"/>
              </a:rPr>
              <a:t>Memoria que pertenece al proceso y no se comparte de la misma forma con otros.</a:t>
            </a:r>
            <a:endParaRPr lang="en-US" sz="1400" dirty="0"/>
          </a:p>
        </p:txBody>
      </p:sp>
      <p:sp>
        <p:nvSpPr>
          <p:cNvPr id="8" name="Shape 6"/>
          <p:cNvSpPr/>
          <p:nvPr/>
        </p:nvSpPr>
        <p:spPr>
          <a:xfrm>
            <a:off x="3492500" y="2009140"/>
            <a:ext cx="2527300" cy="2322830"/>
          </a:xfrm>
          <a:prstGeom prst="roundRect">
            <a:avLst>
              <a:gd name="adj" fmla="val 4374"/>
            </a:avLst>
          </a:prstGeom>
          <a:solidFill>
            <a:srgbClr val="F3F8FE"/>
          </a:solidFill>
          <a:ln/>
        </p:spPr>
      </p:sp>
      <p:sp>
        <p:nvSpPr>
          <p:cNvPr id="9" name="Text 7"/>
          <p:cNvSpPr/>
          <p:nvPr/>
        </p:nvSpPr>
        <p:spPr>
          <a:xfrm>
            <a:off x="3663887" y="2212340"/>
            <a:ext cx="2184527" cy="295275"/>
          </a:xfrm>
          <a:prstGeom prst="rect">
            <a:avLst/>
          </a:prstGeom>
          <a:noFill/>
          <a:ln/>
        </p:spPr>
        <p:txBody>
          <a:bodyPr wrap="square" lIns="0" tIns="0" rIns="0" bIns="0" rtlCol="0" anchor="t">
            <a:normAutofit/>
          </a:bodyPr>
          <a:lstStyle/>
          <a:p>
            <a:pPr marL="0" indent="0" algn="ctr">
              <a:lnSpc>
                <a:spcPts val="2125"/>
              </a:lnSpc>
              <a:buNone/>
            </a:pPr>
            <a:r>
              <a:rPr lang="en-US" sz="1700" b="1" dirty="0">
                <a:solidFill>
                  <a:srgbClr val="1F2A44"/>
                </a:solidFill>
                <a:latin typeface="Poppins" pitchFamily="34" charset="0"/>
                <a:ea typeface="Poppins" pitchFamily="34" charset="-122"/>
                <a:cs typeface="Poppins" pitchFamily="34" charset="-120"/>
              </a:rPr>
              <a:t>Working set</a:t>
            </a:r>
            <a:endParaRPr lang="en-US" sz="1700" dirty="0"/>
          </a:p>
        </p:txBody>
      </p:sp>
      <p:sp>
        <p:nvSpPr>
          <p:cNvPr id="10" name="Text 8"/>
          <p:cNvSpPr/>
          <p:nvPr/>
        </p:nvSpPr>
        <p:spPr>
          <a:xfrm>
            <a:off x="3492500" y="2660015"/>
            <a:ext cx="2527300" cy="1671955"/>
          </a:xfrm>
          <a:prstGeom prst="roundRect">
            <a:avLst>
              <a:gd name="adj" fmla="val 6077"/>
            </a:avLst>
          </a:prstGeom>
          <a:solidFill>
            <a:srgbClr val="63A4FA"/>
          </a:solidFill>
          <a:ln/>
        </p:spPr>
        <p:txBody>
          <a:bodyPr wrap="square" lIns="173442" tIns="173442" rIns="109815" bIns="173442" rtlCol="0" anchor="t">
            <a:normAutofit/>
          </a:bodyPr>
          <a:lstStyle/>
          <a:p>
            <a:pPr marL="0" indent="0" algn="l">
              <a:lnSpc>
                <a:spcPts val="1960"/>
              </a:lnSpc>
              <a:buNone/>
            </a:pPr>
            <a:r>
              <a:rPr lang="en-US" sz="1400" dirty="0">
                <a:solidFill>
                  <a:srgbClr val="0F1F3D"/>
                </a:solidFill>
                <a:latin typeface="Poppins" pitchFamily="34" charset="0"/>
                <a:ea typeface="Poppins" pitchFamily="34" charset="-122"/>
                <a:cs typeface="Poppins" pitchFamily="34" charset="-120"/>
              </a:rPr>
              <a:t>Parte de la memoria del proceso que está en la memoria física en un momento dado.</a:t>
            </a:r>
            <a:endParaRPr lang="en-US" sz="1400" dirty="0"/>
          </a:p>
        </p:txBody>
      </p:sp>
      <p:sp>
        <p:nvSpPr>
          <p:cNvPr id="11" name="Shape 9"/>
          <p:cNvSpPr/>
          <p:nvPr/>
        </p:nvSpPr>
        <p:spPr>
          <a:xfrm>
            <a:off x="6172200" y="2009140"/>
            <a:ext cx="2527300" cy="2322830"/>
          </a:xfrm>
          <a:prstGeom prst="roundRect">
            <a:avLst>
              <a:gd name="adj" fmla="val 4374"/>
            </a:avLst>
          </a:prstGeom>
          <a:solidFill>
            <a:srgbClr val="F3F8FE"/>
          </a:solidFill>
          <a:ln/>
        </p:spPr>
      </p:sp>
      <p:sp>
        <p:nvSpPr>
          <p:cNvPr id="12" name="Text 10"/>
          <p:cNvSpPr/>
          <p:nvPr/>
        </p:nvSpPr>
        <p:spPr>
          <a:xfrm>
            <a:off x="6343587" y="2212340"/>
            <a:ext cx="2184527" cy="295275"/>
          </a:xfrm>
          <a:prstGeom prst="rect">
            <a:avLst/>
          </a:prstGeom>
          <a:noFill/>
          <a:ln/>
        </p:spPr>
        <p:txBody>
          <a:bodyPr wrap="square" lIns="0" tIns="0" rIns="0" bIns="0" rtlCol="0" anchor="t">
            <a:normAutofit/>
          </a:bodyPr>
          <a:lstStyle/>
          <a:p>
            <a:pPr marL="0" indent="0" algn="ctr">
              <a:lnSpc>
                <a:spcPts val="2125"/>
              </a:lnSpc>
              <a:buNone/>
            </a:pPr>
            <a:r>
              <a:rPr lang="en-US" sz="1700" b="1" dirty="0">
                <a:solidFill>
                  <a:srgbClr val="1F2A44"/>
                </a:solidFill>
                <a:latin typeface="Poppins" pitchFamily="34" charset="0"/>
                <a:ea typeface="Poppins" pitchFamily="34" charset="-122"/>
                <a:cs typeface="Poppins" pitchFamily="34" charset="-120"/>
              </a:rPr>
              <a:t>Línea base</a:t>
            </a:r>
            <a:endParaRPr lang="en-US" sz="1700" dirty="0"/>
          </a:p>
        </p:txBody>
      </p:sp>
      <p:sp>
        <p:nvSpPr>
          <p:cNvPr id="13" name="Text 11"/>
          <p:cNvSpPr/>
          <p:nvPr/>
        </p:nvSpPr>
        <p:spPr>
          <a:xfrm>
            <a:off x="6172200" y="2660015"/>
            <a:ext cx="2527300" cy="1671955"/>
          </a:xfrm>
          <a:prstGeom prst="roundRect">
            <a:avLst>
              <a:gd name="adj" fmla="val 6077"/>
            </a:avLst>
          </a:prstGeom>
          <a:solidFill>
            <a:srgbClr val="63A4FA"/>
          </a:solidFill>
          <a:ln/>
        </p:spPr>
        <p:txBody>
          <a:bodyPr wrap="square" lIns="173442" tIns="173442" rIns="109815" bIns="168997" rtlCol="0" anchor="t">
            <a:normAutofit/>
          </a:bodyPr>
          <a:lstStyle/>
          <a:p>
            <a:pPr marL="0" indent="0" algn="l">
              <a:lnSpc>
                <a:spcPts val="1960"/>
              </a:lnSpc>
              <a:buNone/>
            </a:pPr>
            <a:r>
              <a:rPr lang="en-US" sz="1400" dirty="0">
                <a:solidFill>
                  <a:srgbClr val="0F1F3D"/>
                </a:solidFill>
                <a:latin typeface="Poppins" pitchFamily="34" charset="0"/>
                <a:ea typeface="Poppins" pitchFamily="34" charset="-122"/>
                <a:cs typeface="Poppins" pitchFamily="34" charset="-120"/>
              </a:rPr>
              <a:t>Punto de comparación: una medición inicial o registros de funcionamiento normal.</a:t>
            </a:r>
            <a:endParaRPr lang="en-US" sz="1400" dirty="0"/>
          </a:p>
        </p:txBody>
      </p:sp>
      <p:sp>
        <p:nvSpPr>
          <p:cNvPr id="14" name="Shape 12"/>
          <p:cNvSpPr/>
          <p:nvPr/>
        </p:nvSpPr>
        <p:spPr>
          <a:xfrm>
            <a:off x="8851900" y="2009140"/>
            <a:ext cx="2527300" cy="2322830"/>
          </a:xfrm>
          <a:prstGeom prst="roundRect">
            <a:avLst>
              <a:gd name="adj" fmla="val 4374"/>
            </a:avLst>
          </a:prstGeom>
          <a:solidFill>
            <a:srgbClr val="F3F8FE"/>
          </a:solidFill>
          <a:ln/>
        </p:spPr>
      </p:sp>
      <p:sp>
        <p:nvSpPr>
          <p:cNvPr id="15" name="Text 13"/>
          <p:cNvSpPr/>
          <p:nvPr/>
        </p:nvSpPr>
        <p:spPr>
          <a:xfrm>
            <a:off x="9023287" y="2212340"/>
            <a:ext cx="2184527" cy="565150"/>
          </a:xfrm>
          <a:prstGeom prst="rect">
            <a:avLst/>
          </a:prstGeom>
          <a:noFill/>
          <a:ln/>
        </p:spPr>
        <p:txBody>
          <a:bodyPr wrap="square" lIns="0" tIns="0" rIns="0" bIns="0" rtlCol="0" anchor="t">
            <a:normAutofit/>
          </a:bodyPr>
          <a:lstStyle/>
          <a:p>
            <a:pPr marL="0" indent="0" algn="ctr">
              <a:lnSpc>
                <a:spcPts val="2125"/>
              </a:lnSpc>
              <a:buNone/>
            </a:pPr>
            <a:r>
              <a:rPr lang="en-US" sz="1700" b="1" dirty="0">
                <a:solidFill>
                  <a:srgbClr val="1F2A44"/>
                </a:solidFill>
                <a:latin typeface="Poppins" pitchFamily="34" charset="0"/>
                <a:ea typeface="Poppins" pitchFamily="34" charset="-122"/>
                <a:cs typeface="Poppins" pitchFamily="34" charset="-120"/>
              </a:rPr>
              <a:t>LSA Protection y Credential Guard</a:t>
            </a:r>
            <a:endParaRPr lang="en-US" sz="1700" dirty="0"/>
          </a:p>
        </p:txBody>
      </p:sp>
      <p:sp>
        <p:nvSpPr>
          <p:cNvPr id="16" name="Text 14"/>
          <p:cNvSpPr/>
          <p:nvPr/>
        </p:nvSpPr>
        <p:spPr>
          <a:xfrm>
            <a:off x="8851900" y="2929890"/>
            <a:ext cx="2527300" cy="1402080"/>
          </a:xfrm>
          <a:prstGeom prst="roundRect">
            <a:avLst>
              <a:gd name="adj" fmla="val 7246"/>
            </a:avLst>
          </a:prstGeom>
          <a:solidFill>
            <a:srgbClr val="63A4FA"/>
          </a:solidFill>
          <a:ln/>
        </p:spPr>
        <p:txBody>
          <a:bodyPr wrap="square" lIns="173442" tIns="173442" rIns="109815" bIns="148042" rtlCol="0" anchor="t">
            <a:normAutofit/>
          </a:bodyPr>
          <a:lstStyle/>
          <a:p>
            <a:pPr marL="0" indent="0" algn="l">
              <a:lnSpc>
                <a:spcPts val="1960"/>
              </a:lnSpc>
              <a:buNone/>
            </a:pPr>
            <a:r>
              <a:rPr lang="en-US" sz="1400" dirty="0">
                <a:solidFill>
                  <a:srgbClr val="0F1F3D"/>
                </a:solidFill>
                <a:latin typeface="Poppins" pitchFamily="34" charset="0"/>
                <a:ea typeface="Poppins" pitchFamily="34" charset="-122"/>
                <a:cs typeface="Poppins" pitchFamily="34" charset="-120"/>
              </a:rPr>
              <a:t>Reducen el acceso no autorizado a LSASS y aíslan credenciales con virtualización.</a:t>
            </a:r>
            <a:endParaRPr lang="en-US" sz="1400" dirty="0"/>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gradFill rotWithShape="1">
            <a:gsLst>
              <a:gs pos="0">
                <a:srgbClr val="F0F6FF"/>
              </a:gs>
              <a:gs pos="100000">
                <a:srgbClr val="63A4FA"/>
              </a:gs>
            </a:gsLst>
            <a:lin ang="5400000" scaled="0"/>
          </a:gradFill>
          <a:ln/>
        </p:spPr>
      </p:sp>
      <p:sp>
        <p:nvSpPr>
          <p:cNvPr id="4" name="Text 2"/>
          <p:cNvSpPr>
            <a:spLocks noGrp="1"/>
          </p:cNvSpPr>
          <p:nvPr>
            <p:ph type="title"/>
          </p:nvPr>
        </p:nvSpPr>
        <p:spPr>
          <a:xfrm>
            <a:off x="812800" y="109474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2A44"/>
                </a:solidFill>
                <a:latin typeface="Poppins" pitchFamily="34" charset="0"/>
                <a:ea typeface="Poppins" pitchFamily="34" charset="-122"/>
                <a:cs typeface="Poppins" pitchFamily="34" charset="-120"/>
              </a:rPr>
              <a:t>Cómo funciona la herramienta</a:t>
            </a:r>
            <a:endParaRPr lang="en-US" sz="3600" dirty="0"/>
          </a:p>
        </p:txBody>
      </p:sp>
      <p:sp>
        <p:nvSpPr>
          <p:cNvPr id="5" name="Shape 3"/>
          <p:cNvSpPr/>
          <p:nvPr/>
        </p:nvSpPr>
        <p:spPr>
          <a:xfrm>
            <a:off x="812800" y="2414270"/>
            <a:ext cx="2980214" cy="1925320"/>
          </a:xfrm>
          <a:prstGeom prst="roundRect">
            <a:avLst>
              <a:gd name="adj" fmla="val 5277"/>
            </a:avLst>
          </a:prstGeom>
          <a:solidFill>
            <a:srgbClr val="F3F8FE"/>
          </a:solidFill>
          <a:ln/>
        </p:spPr>
      </p:sp>
      <p:sp>
        <p:nvSpPr>
          <p:cNvPr id="6" name="Text 4"/>
          <p:cNvSpPr/>
          <p:nvPr/>
        </p:nvSpPr>
        <p:spPr>
          <a:xfrm>
            <a:off x="1066800" y="2668270"/>
            <a:ext cx="254638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F6BFA"/>
                </a:solidFill>
                <a:latin typeface="Poppins" pitchFamily="34" charset="0"/>
                <a:ea typeface="Poppins" pitchFamily="34" charset="-122"/>
                <a:cs typeface="Poppins" pitchFamily="34" charset="-120"/>
              </a:rPr>
              <a:t>1 · monitor.ps1</a:t>
            </a:r>
            <a:endParaRPr lang="en-US" sz="1200" dirty="0"/>
          </a:p>
        </p:txBody>
      </p:sp>
      <p:sp>
        <p:nvSpPr>
          <p:cNvPr id="7" name="Text 5"/>
          <p:cNvSpPr/>
          <p:nvPr/>
        </p:nvSpPr>
        <p:spPr>
          <a:xfrm>
            <a:off x="1066800" y="2957830"/>
            <a:ext cx="254638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F2A44"/>
                </a:solidFill>
                <a:latin typeface="Poppins" pitchFamily="34" charset="0"/>
                <a:ea typeface="Poppins" pitchFamily="34" charset="-122"/>
                <a:cs typeface="Poppins" pitchFamily="34" charset="-120"/>
              </a:rPr>
              <a:t>PowerShell</a:t>
            </a:r>
            <a:endParaRPr lang="en-US" sz="2000" dirty="0"/>
          </a:p>
        </p:txBody>
      </p:sp>
      <p:sp>
        <p:nvSpPr>
          <p:cNvPr id="8" name="Text 6"/>
          <p:cNvSpPr/>
          <p:nvPr/>
        </p:nvSpPr>
        <p:spPr>
          <a:xfrm>
            <a:off x="1066800" y="3338830"/>
            <a:ext cx="2546380"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78"/>
                </a:solidFill>
                <a:latin typeface="Poppins" pitchFamily="34" charset="0"/>
                <a:ea typeface="Poppins" pitchFamily="34" charset="-122"/>
                <a:cs typeface="Poppins" pitchFamily="34" charset="-120"/>
              </a:rPr>
              <a:t>Mide los procesos con Get-Process cada 5 s durante 120 s.</a:t>
            </a:r>
            <a:endParaRPr lang="en-US" sz="1400" dirty="0"/>
          </a:p>
        </p:txBody>
      </p:sp>
      <p:pic>
        <p:nvPicPr>
          <p:cNvPr id="9" name="Image 0" descr="arrow-right"/>
          <p:cNvPicPr>
            <a:picLocks noChangeAspect="1"/>
          </p:cNvPicPr>
          <p:nvPr/>
        </p:nvPicPr>
        <p:blipFill>
          <a:blip r:embed="rId3"/>
          <a:srcRect/>
          <a:stretch/>
        </p:blipFill>
        <p:spPr>
          <a:xfrm>
            <a:off x="3945414" y="3224530"/>
            <a:ext cx="508000" cy="304800"/>
          </a:xfrm>
          <a:prstGeom prst="rect">
            <a:avLst/>
          </a:prstGeom>
        </p:spPr>
      </p:pic>
      <p:sp>
        <p:nvSpPr>
          <p:cNvPr id="10" name="Shape 7"/>
          <p:cNvSpPr/>
          <p:nvPr/>
        </p:nvSpPr>
        <p:spPr>
          <a:xfrm>
            <a:off x="4605814" y="2414270"/>
            <a:ext cx="2980293" cy="1925320"/>
          </a:xfrm>
          <a:prstGeom prst="roundRect">
            <a:avLst>
              <a:gd name="adj" fmla="val 5277"/>
            </a:avLst>
          </a:prstGeom>
          <a:solidFill>
            <a:srgbClr val="F3F8FE"/>
          </a:solidFill>
          <a:ln/>
        </p:spPr>
      </p:sp>
      <p:sp>
        <p:nvSpPr>
          <p:cNvPr id="11" name="Text 8"/>
          <p:cNvSpPr/>
          <p:nvPr/>
        </p:nvSpPr>
        <p:spPr>
          <a:xfrm>
            <a:off x="4859814" y="2668270"/>
            <a:ext cx="254646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F6BFA"/>
                </a:solidFill>
                <a:latin typeface="Poppins" pitchFamily="34" charset="0"/>
                <a:ea typeface="Poppins" pitchFamily="34" charset="-122"/>
                <a:cs typeface="Poppins" pitchFamily="34" charset="-120"/>
              </a:rPr>
              <a:t>2 · ejemplo.json</a:t>
            </a:r>
            <a:endParaRPr lang="en-US" sz="1200" dirty="0"/>
          </a:p>
        </p:txBody>
      </p:sp>
      <p:sp>
        <p:nvSpPr>
          <p:cNvPr id="12" name="Text 9"/>
          <p:cNvSpPr/>
          <p:nvPr/>
        </p:nvSpPr>
        <p:spPr>
          <a:xfrm>
            <a:off x="4859814" y="2957830"/>
            <a:ext cx="254646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F2A44"/>
                </a:solidFill>
                <a:latin typeface="Poppins" pitchFamily="34" charset="0"/>
                <a:ea typeface="Poppins" pitchFamily="34" charset="-122"/>
                <a:cs typeface="Poppins" pitchFamily="34" charset="-120"/>
              </a:rPr>
              <a:t>Archivo JSON</a:t>
            </a:r>
            <a:endParaRPr lang="en-US" sz="2000" dirty="0"/>
          </a:p>
        </p:txBody>
      </p:sp>
      <p:sp>
        <p:nvSpPr>
          <p:cNvPr id="13" name="Text 10"/>
          <p:cNvSpPr/>
          <p:nvPr/>
        </p:nvSpPr>
        <p:spPr>
          <a:xfrm>
            <a:off x="4859814" y="3338830"/>
            <a:ext cx="254646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78"/>
                </a:solidFill>
                <a:latin typeface="Poppins" pitchFamily="34" charset="0"/>
                <a:ea typeface="Poppins" pitchFamily="34" charset="-122"/>
                <a:cs typeface="Poppins" pitchFamily="34" charset="-120"/>
              </a:rPr>
              <a:t>Guarda equipo, muestras, alertas y estado de protecciones.</a:t>
            </a:r>
            <a:endParaRPr lang="en-US" sz="1400" dirty="0"/>
          </a:p>
        </p:txBody>
      </p:sp>
      <p:pic>
        <p:nvPicPr>
          <p:cNvPr id="14" name="Image 1" descr="arrow-right"/>
          <p:cNvPicPr>
            <a:picLocks noChangeAspect="1"/>
          </p:cNvPicPr>
          <p:nvPr/>
        </p:nvPicPr>
        <p:blipFill>
          <a:blip r:embed="rId3"/>
          <a:srcRect/>
          <a:stretch/>
        </p:blipFill>
        <p:spPr>
          <a:xfrm>
            <a:off x="7738507" y="3224530"/>
            <a:ext cx="508000" cy="304800"/>
          </a:xfrm>
          <a:prstGeom prst="rect">
            <a:avLst/>
          </a:prstGeom>
        </p:spPr>
      </p:pic>
      <p:sp>
        <p:nvSpPr>
          <p:cNvPr id="15" name="Shape 11"/>
          <p:cNvSpPr/>
          <p:nvPr/>
        </p:nvSpPr>
        <p:spPr>
          <a:xfrm>
            <a:off x="8398907" y="2414270"/>
            <a:ext cx="2980293" cy="1925320"/>
          </a:xfrm>
          <a:prstGeom prst="roundRect">
            <a:avLst>
              <a:gd name="adj" fmla="val 5277"/>
            </a:avLst>
          </a:prstGeom>
          <a:solidFill>
            <a:srgbClr val="F3F8FE"/>
          </a:solidFill>
          <a:ln/>
        </p:spPr>
      </p:sp>
      <p:sp>
        <p:nvSpPr>
          <p:cNvPr id="16" name="Text 12"/>
          <p:cNvSpPr/>
          <p:nvPr/>
        </p:nvSpPr>
        <p:spPr>
          <a:xfrm>
            <a:off x="8652907" y="2668270"/>
            <a:ext cx="254646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F6BFA"/>
                </a:solidFill>
                <a:latin typeface="Poppins" pitchFamily="34" charset="0"/>
                <a:ea typeface="Poppins" pitchFamily="34" charset="-122"/>
                <a:cs typeface="Poppins" pitchFamily="34" charset="-120"/>
              </a:rPr>
              <a:t>3 · index.html</a:t>
            </a:r>
            <a:endParaRPr lang="en-US" sz="1200" dirty="0"/>
          </a:p>
        </p:txBody>
      </p:sp>
      <p:sp>
        <p:nvSpPr>
          <p:cNvPr id="17" name="Text 13"/>
          <p:cNvSpPr/>
          <p:nvPr/>
        </p:nvSpPr>
        <p:spPr>
          <a:xfrm>
            <a:off x="8652907" y="2957830"/>
            <a:ext cx="254646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F2A44"/>
                </a:solidFill>
                <a:latin typeface="Poppins" pitchFamily="34" charset="0"/>
                <a:ea typeface="Poppins" pitchFamily="34" charset="-122"/>
                <a:cs typeface="Poppins" pitchFamily="34" charset="-120"/>
              </a:rPr>
              <a:t>Aplicación web</a:t>
            </a:r>
            <a:endParaRPr lang="en-US" sz="2000" dirty="0"/>
          </a:p>
        </p:txBody>
      </p:sp>
      <p:sp>
        <p:nvSpPr>
          <p:cNvPr id="18" name="Text 14"/>
          <p:cNvSpPr/>
          <p:nvPr/>
        </p:nvSpPr>
        <p:spPr>
          <a:xfrm>
            <a:off x="8652907" y="3338830"/>
            <a:ext cx="254646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78"/>
                </a:solidFill>
                <a:latin typeface="Poppins" pitchFamily="34" charset="0"/>
                <a:ea typeface="Poppins" pitchFamily="34" charset="-122"/>
                <a:cs typeface="Poppins" pitchFamily="34" charset="-120"/>
              </a:rPr>
              <a:t>Muestra resumen, gráficos, buscador y alertas con umbral ajustable.</a:t>
            </a:r>
            <a:endParaRPr lang="en-US" sz="1400" dirty="0"/>
          </a:p>
        </p:txBody>
      </p:sp>
      <p:sp>
        <p:nvSpPr>
          <p:cNvPr id="19" name="Text 15"/>
          <p:cNvSpPr/>
          <p:nvPr/>
        </p:nvSpPr>
        <p:spPr>
          <a:xfrm>
            <a:off x="812800" y="5156200"/>
            <a:ext cx="10109200" cy="889000"/>
          </a:xfrm>
          <a:prstGeom prst="roundRect">
            <a:avLst>
              <a:gd name="adj" fmla="val 11429"/>
            </a:avLst>
          </a:prstGeom>
          <a:solidFill>
            <a:srgbClr val="63A4FA"/>
          </a:solidFill>
          <a:ln/>
        </p:spPr>
        <p:txBody>
          <a:bodyPr wrap="square" lIns="198842" tIns="148042" rIns="0" bIns="122642" rtlCol="0" anchor="t">
            <a:normAutofit/>
          </a:bodyPr>
          <a:lstStyle/>
          <a:p>
            <a:pPr marL="0" indent="0" algn="l">
              <a:lnSpc>
                <a:spcPts val="2100"/>
              </a:lnSpc>
              <a:buNone/>
            </a:pPr>
            <a:r>
              <a:rPr lang="en-US" sz="1500" b="1" dirty="0">
                <a:solidFill>
                  <a:srgbClr val="0F1F3D"/>
                </a:solidFill>
                <a:latin typeface="Poppins" pitchFamily="34" charset="0"/>
                <a:ea typeface="Poppins" pitchFamily="34" charset="-122"/>
                <a:cs typeface="Poppins" pitchFamily="34" charset="-120"/>
              </a:rPr>
              <a:t>Regla de alerta:</a:t>
            </a:r>
            <a:r>
              <a:rPr lang="en-US" sz="1500" dirty="0">
                <a:solidFill>
                  <a:srgbClr val="0F1F3D"/>
                </a:solidFill>
                <a:latin typeface="Poppins" pitchFamily="34" charset="0"/>
                <a:ea typeface="Poppins" pitchFamily="34" charset="-122"/>
                <a:cs typeface="Poppins" pitchFamily="34" charset="-120"/>
              </a:rPr>
              <a:t> aumento sostenido de memoria privada durante seis muestras. Es una señal para revisar, no una prueba de ataque.</a:t>
            </a:r>
            <a:endParaRPr lang="en-US" sz="1500" dirty="0"/>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gradFill rotWithShape="1">
            <a:gsLst>
              <a:gs pos="0">
                <a:srgbClr val="F0F6FF"/>
              </a:gs>
              <a:gs pos="100000">
                <a:srgbClr val="63A4FA"/>
              </a:gs>
            </a:gsLst>
            <a:lin ang="5400000" scaled="0"/>
          </a:gradFill>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F6BFA"/>
                </a:solidFill>
                <a:latin typeface="Poppins" pitchFamily="34" charset="0"/>
                <a:ea typeface="Poppins" pitchFamily="34" charset="-122"/>
                <a:cs typeface="Poppins" pitchFamily="34" charset="-120"/>
              </a:rPr>
              <a:t>Prueba controlada</a:t>
            </a:r>
            <a:endParaRPr lang="en-US" sz="1300" dirty="0"/>
          </a:p>
        </p:txBody>
      </p:sp>
      <p:sp>
        <p:nvSpPr>
          <p:cNvPr id="4" name="Text 2"/>
          <p:cNvSpPr>
            <a:spLocks noGrp="1"/>
          </p:cNvSpPr>
          <p:nvPr>
            <p:ph type="title"/>
          </p:nvPr>
        </p:nvSpPr>
        <p:spPr>
          <a:xfrm>
            <a:off x="812800" y="109474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2A44"/>
                </a:solidFill>
                <a:latin typeface="Poppins" pitchFamily="34" charset="0"/>
                <a:ea typeface="Poppins" pitchFamily="34" charset="-122"/>
                <a:cs typeface="Poppins" pitchFamily="34" charset="-120"/>
              </a:rPr>
              <a:t>Un simulador y un monitor a la vez</a:t>
            </a:r>
            <a:endParaRPr lang="en-US" sz="3200" dirty="0"/>
          </a:p>
        </p:txBody>
      </p:sp>
      <p:sp>
        <p:nvSpPr>
          <p:cNvPr id="5" name="Shape 3"/>
          <p:cNvSpPr/>
          <p:nvPr/>
        </p:nvSpPr>
        <p:spPr>
          <a:xfrm>
            <a:off x="812800" y="1846580"/>
            <a:ext cx="5207000" cy="3073400"/>
          </a:xfrm>
          <a:prstGeom prst="roundRect">
            <a:avLst>
              <a:gd name="adj" fmla="val 2479"/>
            </a:avLst>
          </a:prstGeom>
          <a:solidFill>
            <a:srgbClr val="0C1626"/>
          </a:solidFill>
          <a:ln/>
        </p:spPr>
      </p:sp>
      <p:pic>
        <p:nvPicPr>
          <p:cNvPr id="6" name="Image 0" descr="Consola de PowerShell con el simulador reservando memoria en pasos de 20 MB hasta 300 MB"/>
          <p:cNvPicPr>
            <a:picLocks noChangeAspect="1"/>
          </p:cNvPicPr>
          <p:nvPr/>
        </p:nvPicPr>
        <p:blipFill>
          <a:blip r:embed="rId3"/>
          <a:srcRect t="-62" b="-62"/>
          <a:stretch/>
        </p:blipFill>
        <p:spPr>
          <a:xfrm>
            <a:off x="812800" y="1846580"/>
            <a:ext cx="5207000" cy="3073400"/>
          </a:xfrm>
          <a:prstGeom prst="roundRect">
            <a:avLst>
              <a:gd name="adj" fmla="val 2479"/>
            </a:avLst>
          </a:prstGeom>
        </p:spPr>
      </p:pic>
      <p:sp>
        <p:nvSpPr>
          <p:cNvPr id="7" name="Text 4"/>
          <p:cNvSpPr/>
          <p:nvPr/>
        </p:nvSpPr>
        <p:spPr>
          <a:xfrm>
            <a:off x="812800" y="5072380"/>
            <a:ext cx="5363210"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2A44"/>
                </a:solidFill>
                <a:latin typeface="Poppins" pitchFamily="34" charset="0"/>
                <a:ea typeface="Poppins" pitchFamily="34" charset="-122"/>
                <a:cs typeface="Poppins" pitchFamily="34" charset="-120"/>
              </a:rPr>
              <a:t>Simulador:</a:t>
            </a:r>
            <a:r>
              <a:rPr lang="en-US" sz="1400" dirty="0">
                <a:solidFill>
                  <a:srgbClr val="4A5A78"/>
                </a:solidFill>
                <a:latin typeface="Poppins" pitchFamily="34" charset="0"/>
                <a:ea typeface="Poppins" pitchFamily="34" charset="-122"/>
                <a:cs typeface="Poppins" pitchFamily="34" charset="-120"/>
              </a:rPr>
              <a:t> reserva 20 MB cada 5 s hasta 300 MB y luego libera la memoria.</a:t>
            </a:r>
            <a:endParaRPr lang="en-US" sz="1400" dirty="0"/>
          </a:p>
        </p:txBody>
      </p:sp>
      <p:sp>
        <p:nvSpPr>
          <p:cNvPr id="8" name="Shape 5"/>
          <p:cNvSpPr/>
          <p:nvPr/>
        </p:nvSpPr>
        <p:spPr>
          <a:xfrm>
            <a:off x="6426200" y="1846580"/>
            <a:ext cx="4953000" cy="1612900"/>
          </a:xfrm>
          <a:prstGeom prst="roundRect">
            <a:avLst>
              <a:gd name="adj" fmla="val 4724"/>
            </a:avLst>
          </a:prstGeom>
          <a:solidFill>
            <a:srgbClr val="0C1626"/>
          </a:solidFill>
          <a:ln/>
        </p:spPr>
      </p:sp>
      <p:pic>
        <p:nvPicPr>
          <p:cNvPr id="9" name="Image 1" descr="Consola del monitor con la alerta en el segundo 70 y el JSON guardado con 3184 muestras"/>
          <p:cNvPicPr>
            <a:picLocks noChangeAspect="1"/>
          </p:cNvPicPr>
          <p:nvPr/>
        </p:nvPicPr>
        <p:blipFill>
          <a:blip r:embed="rId4"/>
          <a:srcRect t="-28" b="-28"/>
          <a:stretch/>
        </p:blipFill>
        <p:spPr>
          <a:xfrm>
            <a:off x="6426200" y="1846580"/>
            <a:ext cx="4953000" cy="1612900"/>
          </a:xfrm>
          <a:prstGeom prst="roundRect">
            <a:avLst>
              <a:gd name="adj" fmla="val 4724"/>
            </a:avLst>
          </a:prstGeom>
        </p:spPr>
      </p:pic>
      <p:sp>
        <p:nvSpPr>
          <p:cNvPr id="10" name="Shape 6"/>
          <p:cNvSpPr/>
          <p:nvPr/>
        </p:nvSpPr>
        <p:spPr>
          <a:xfrm>
            <a:off x="6426200" y="3662680"/>
            <a:ext cx="2400300" cy="1257300"/>
          </a:xfrm>
          <a:prstGeom prst="roundRect">
            <a:avLst>
              <a:gd name="adj" fmla="val 8081"/>
            </a:avLst>
          </a:prstGeom>
          <a:solidFill>
            <a:srgbClr val="F3F8FE"/>
          </a:solidFill>
          <a:ln/>
        </p:spPr>
      </p:sp>
      <p:sp>
        <p:nvSpPr>
          <p:cNvPr id="11" name="Text 7"/>
          <p:cNvSpPr/>
          <p:nvPr/>
        </p:nvSpPr>
        <p:spPr>
          <a:xfrm>
            <a:off x="6629400" y="3840480"/>
            <a:ext cx="2053717"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4F6BFA"/>
                </a:solidFill>
                <a:latin typeface="Poppins" pitchFamily="34" charset="0"/>
                <a:ea typeface="Poppins" pitchFamily="34" charset="-122"/>
                <a:cs typeface="Poppins" pitchFamily="34" charset="-120"/>
              </a:rPr>
              <a:t>3184</a:t>
            </a:r>
            <a:endParaRPr lang="en-US" sz="3200" dirty="0"/>
          </a:p>
        </p:txBody>
      </p:sp>
      <p:sp>
        <p:nvSpPr>
          <p:cNvPr id="12" name="Text 8"/>
          <p:cNvSpPr/>
          <p:nvPr/>
        </p:nvSpPr>
        <p:spPr>
          <a:xfrm>
            <a:off x="6629400" y="4312920"/>
            <a:ext cx="2053717"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A78"/>
                </a:solidFill>
                <a:latin typeface="Poppins" pitchFamily="34" charset="0"/>
                <a:ea typeface="Poppins" pitchFamily="34" charset="-122"/>
                <a:cs typeface="Poppins" pitchFamily="34" charset="-120"/>
              </a:rPr>
              <a:t>muestras de distintos procesos</a:t>
            </a:r>
            <a:endParaRPr lang="en-US" sz="1300" dirty="0"/>
          </a:p>
        </p:txBody>
      </p:sp>
      <p:sp>
        <p:nvSpPr>
          <p:cNvPr id="13" name="Shape 9"/>
          <p:cNvSpPr/>
          <p:nvPr/>
        </p:nvSpPr>
        <p:spPr>
          <a:xfrm>
            <a:off x="8978900" y="3662680"/>
            <a:ext cx="2400300" cy="1257300"/>
          </a:xfrm>
          <a:prstGeom prst="roundRect">
            <a:avLst>
              <a:gd name="adj" fmla="val 8081"/>
            </a:avLst>
          </a:prstGeom>
          <a:solidFill>
            <a:srgbClr val="F3F8FE"/>
          </a:solidFill>
          <a:ln/>
        </p:spPr>
      </p:sp>
      <p:sp>
        <p:nvSpPr>
          <p:cNvPr id="14" name="Text 10"/>
          <p:cNvSpPr/>
          <p:nvPr/>
        </p:nvSpPr>
        <p:spPr>
          <a:xfrm>
            <a:off x="9182100" y="3840480"/>
            <a:ext cx="2053717"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B4530A"/>
                </a:solidFill>
                <a:latin typeface="Poppins" pitchFamily="34" charset="0"/>
                <a:ea typeface="Poppins" pitchFamily="34" charset="-122"/>
                <a:cs typeface="Poppins" pitchFamily="34" charset="-120"/>
              </a:rPr>
              <a:t>t = 70 s</a:t>
            </a:r>
            <a:endParaRPr lang="en-US" sz="3200" dirty="0"/>
          </a:p>
        </p:txBody>
      </p:sp>
      <p:sp>
        <p:nvSpPr>
          <p:cNvPr id="15" name="Text 11"/>
          <p:cNvSpPr/>
          <p:nvPr/>
        </p:nvSpPr>
        <p:spPr>
          <a:xfrm>
            <a:off x="9182100" y="4312920"/>
            <a:ext cx="2053717"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A78"/>
                </a:solidFill>
                <a:latin typeface="Poppins" pitchFamily="34" charset="0"/>
                <a:ea typeface="Poppins" pitchFamily="34" charset="-122"/>
                <a:cs typeface="Poppins" pitchFamily="34" charset="-120"/>
              </a:rPr>
              <a:t>primera alerta del monitor</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gradFill rotWithShape="1">
            <a:gsLst>
              <a:gs pos="0">
                <a:srgbClr val="F0F6FF"/>
              </a:gs>
              <a:gs pos="100000">
                <a:srgbClr val="63A4FA"/>
              </a:gs>
            </a:gsLst>
            <a:lin ang="5400000" scaled="0"/>
          </a:gradFill>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F6BFA"/>
                </a:solidFill>
                <a:latin typeface="Poppins" pitchFamily="34" charset="0"/>
                <a:ea typeface="Poppins" pitchFamily="34" charset="-122"/>
                <a:cs typeface="Poppins" pitchFamily="34" charset="-120"/>
              </a:rPr>
              <a:t>Resultado principal</a:t>
            </a:r>
            <a:endParaRPr lang="en-US" sz="1300" dirty="0"/>
          </a:p>
        </p:txBody>
      </p:sp>
      <p:sp>
        <p:nvSpPr>
          <p:cNvPr id="4" name="Text 2"/>
          <p:cNvSpPr>
            <a:spLocks noGrp="1"/>
          </p:cNvSpPr>
          <p:nvPr>
            <p:ph type="title"/>
          </p:nvPr>
        </p:nvSpPr>
        <p:spPr>
          <a:xfrm>
            <a:off x="812800" y="1094739"/>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2A44"/>
                </a:solidFill>
                <a:latin typeface="Poppins" pitchFamily="34" charset="0"/>
                <a:ea typeface="Poppins" pitchFamily="34" charset="-122"/>
                <a:cs typeface="Poppins" pitchFamily="34" charset="-120"/>
              </a:rPr>
              <a:t>La memoria privada subió de 52 a 324 MB</a:t>
            </a:r>
            <a:endParaRPr lang="en-US" sz="3200" dirty="0"/>
          </a:p>
        </p:txBody>
      </p:sp>
      <p:sp>
        <p:nvSpPr>
          <p:cNvPr id="5" name="Shape 3"/>
          <p:cNvSpPr/>
          <p:nvPr/>
        </p:nvSpPr>
        <p:spPr>
          <a:xfrm>
            <a:off x="812800" y="1846582"/>
            <a:ext cx="5416550" cy="3683000"/>
          </a:xfrm>
          <a:prstGeom prst="roundRect">
            <a:avLst>
              <a:gd name="adj" fmla="val 2069"/>
            </a:avLst>
          </a:prstGeom>
          <a:solidFill>
            <a:srgbClr val="FFFFFF"/>
          </a:solidFill>
          <a:ln/>
        </p:spPr>
      </p:sp>
      <p:pic>
        <p:nvPicPr>
          <p:cNvPr id="6" name="Image 0" descr="Gráfico de la evolución de memoria privada del proceso powershell con PID 19272, creciendo de forma sostenida"/>
          <p:cNvPicPr>
            <a:picLocks noChangeAspect="1"/>
          </p:cNvPicPr>
          <p:nvPr/>
        </p:nvPicPr>
        <p:blipFill>
          <a:blip r:embed="rId3"/>
          <a:srcRect l="-103" r="-103"/>
          <a:stretch/>
        </p:blipFill>
        <p:spPr>
          <a:xfrm>
            <a:off x="825500" y="1859282"/>
            <a:ext cx="5391150" cy="3657600"/>
          </a:xfrm>
          <a:prstGeom prst="roundRect">
            <a:avLst>
              <a:gd name="adj" fmla="val 1736"/>
            </a:avLst>
          </a:prstGeom>
        </p:spPr>
      </p:pic>
      <p:sp>
        <p:nvSpPr>
          <p:cNvPr id="7" name="Shape 4"/>
          <p:cNvSpPr/>
          <p:nvPr/>
        </p:nvSpPr>
        <p:spPr>
          <a:xfrm>
            <a:off x="819150" y="1852932"/>
            <a:ext cx="5403850" cy="3670300"/>
          </a:xfrm>
          <a:prstGeom prst="roundRect">
            <a:avLst>
              <a:gd name="adj" fmla="val 1903"/>
            </a:avLst>
          </a:prstGeom>
          <a:noFill/>
          <a:ln w="12700">
            <a:solidFill>
              <a:srgbClr val="E1EAF5"/>
            </a:solidFill>
            <a:prstDash val="solid"/>
          </a:ln>
        </p:spPr>
      </p:sp>
      <p:sp>
        <p:nvSpPr>
          <p:cNvPr id="8" name="Text 5"/>
          <p:cNvSpPr/>
          <p:nvPr/>
        </p:nvSpPr>
        <p:spPr>
          <a:xfrm>
            <a:off x="6635750" y="1846582"/>
            <a:ext cx="4885754" cy="612140"/>
          </a:xfrm>
          <a:prstGeom prst="rect">
            <a:avLst/>
          </a:prstGeom>
          <a:noFill/>
          <a:ln/>
        </p:spPr>
        <p:txBody>
          <a:bodyPr wrap="square" lIns="0" tIns="0" rIns="0" bIns="0" rtlCol="0" anchor="t">
            <a:normAutofit/>
          </a:bodyPr>
          <a:lstStyle/>
          <a:p>
            <a:pPr marL="0" indent="0" algn="l">
              <a:lnSpc>
                <a:spcPts val="4620"/>
              </a:lnSpc>
              <a:buNone/>
            </a:pPr>
            <a:r>
              <a:rPr lang="en-US" sz="4400" b="1" dirty="0">
                <a:solidFill>
                  <a:srgbClr val="4F6BFA"/>
                </a:solidFill>
                <a:latin typeface="Poppins" pitchFamily="34" charset="0"/>
                <a:ea typeface="Poppins" pitchFamily="34" charset="-122"/>
                <a:cs typeface="Poppins" pitchFamily="34" charset="-120"/>
              </a:rPr>
              <a:t>52 → 324 MB</a:t>
            </a:r>
            <a:endParaRPr lang="en-US" sz="4400" dirty="0"/>
          </a:p>
        </p:txBody>
      </p:sp>
      <p:sp>
        <p:nvSpPr>
          <p:cNvPr id="9" name="Text 6"/>
          <p:cNvSpPr/>
          <p:nvPr/>
        </p:nvSpPr>
        <p:spPr>
          <a:xfrm>
            <a:off x="6635750" y="2484121"/>
            <a:ext cx="488575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78"/>
                </a:solidFill>
                <a:latin typeface="Poppins" pitchFamily="34" charset="0"/>
                <a:ea typeface="Poppins" pitchFamily="34" charset="-122"/>
                <a:cs typeface="Poppins" pitchFamily="34" charset="-120"/>
              </a:rPr>
              <a:t>Memoria privada del proceso </a:t>
            </a:r>
            <a:r>
              <a:rPr lang="en-US" sz="1500" b="1" dirty="0">
                <a:solidFill>
                  <a:srgbClr val="1F2A44"/>
                </a:solidFill>
                <a:latin typeface="Poppins" pitchFamily="34" charset="0"/>
                <a:ea typeface="Poppins" pitchFamily="34" charset="-122"/>
                <a:cs typeface="Poppins" pitchFamily="34" charset="-120"/>
              </a:rPr>
              <a:t>powershell (PID 19272)</a:t>
            </a:r>
            <a:r>
              <a:rPr lang="en-US" sz="1500" dirty="0">
                <a:solidFill>
                  <a:srgbClr val="4A5A78"/>
                </a:solidFill>
                <a:latin typeface="Poppins" pitchFamily="34" charset="0"/>
                <a:ea typeface="Poppins" pitchFamily="34" charset="-122"/>
                <a:cs typeface="Poppins" pitchFamily="34" charset="-120"/>
              </a:rPr>
              <a:t> durante los 120 s de monitoreo.</a:t>
            </a:r>
            <a:endParaRPr lang="en-US" sz="1500" dirty="0"/>
          </a:p>
        </p:txBody>
      </p:sp>
      <p:sp>
        <p:nvSpPr>
          <p:cNvPr id="10" name="Text 7"/>
          <p:cNvSpPr/>
          <p:nvPr/>
        </p:nvSpPr>
        <p:spPr>
          <a:xfrm>
            <a:off x="6635750" y="3220721"/>
            <a:ext cx="4743450" cy="1155700"/>
          </a:xfrm>
          <a:prstGeom prst="roundRect">
            <a:avLst>
              <a:gd name="adj" fmla="val 8791"/>
            </a:avLst>
          </a:prstGeom>
          <a:solidFill>
            <a:srgbClr val="63A4FA"/>
          </a:solidFill>
          <a:ln/>
        </p:spPr>
        <p:txBody>
          <a:bodyPr wrap="square" lIns="198842" tIns="148042" rIns="70255" bIns="122642" rtlCol="0" anchor="t">
            <a:normAutofit/>
          </a:bodyPr>
          <a:lstStyle/>
          <a:p>
            <a:pPr marL="0" indent="0" algn="l">
              <a:lnSpc>
                <a:spcPts val="2100"/>
              </a:lnSpc>
              <a:buNone/>
            </a:pPr>
            <a:r>
              <a:rPr lang="en-US" sz="1500" b="1" dirty="0" err="1">
                <a:solidFill>
                  <a:srgbClr val="0F1F3D"/>
                </a:solidFill>
                <a:latin typeface="Poppins" pitchFamily="34" charset="0"/>
                <a:ea typeface="Poppins" pitchFamily="34" charset="-122"/>
                <a:cs typeface="Poppins" pitchFamily="34" charset="-120"/>
              </a:rPr>
              <a:t>Importante</a:t>
            </a:r>
            <a:r>
              <a:rPr lang="en-US" sz="1500" b="1" dirty="0">
                <a:solidFill>
                  <a:srgbClr val="0F1F3D"/>
                </a:solidFill>
                <a:latin typeface="Poppins" pitchFamily="34" charset="0"/>
                <a:ea typeface="Poppins" pitchFamily="34" charset="-122"/>
                <a:cs typeface="Poppins" pitchFamily="34" charset="-120"/>
              </a:rPr>
              <a:t>:</a:t>
            </a:r>
            <a:r>
              <a:rPr lang="en-US" sz="1500" dirty="0">
                <a:solidFill>
                  <a:srgbClr val="0F1F3D"/>
                </a:solidFill>
                <a:latin typeface="Poppins" pitchFamily="34" charset="0"/>
                <a:ea typeface="Poppins" pitchFamily="34" charset="-122"/>
                <a:cs typeface="Poppins" pitchFamily="34" charset="-120"/>
              </a:rPr>
              <a:t> una subida de memoria no confirma malware por sí sola. Se compara con una línea base.</a:t>
            </a:r>
            <a:endParaRPr lang="en-US" sz="1500" dirty="0"/>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gradFill rotWithShape="1">
            <a:gsLst>
              <a:gs pos="0">
                <a:srgbClr val="F0F6FF"/>
              </a:gs>
              <a:gs pos="100000">
                <a:srgbClr val="63A4FA"/>
              </a:gs>
            </a:gsLst>
            <a:lin ang="5400000" scaled="0"/>
          </a:gradFill>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F6BFA"/>
                </a:solidFill>
                <a:latin typeface="Poppins" pitchFamily="34" charset="0"/>
                <a:ea typeface="Poppins" pitchFamily="34" charset="-122"/>
                <a:cs typeface="Poppins" pitchFamily="34" charset="-120"/>
              </a:rPr>
              <a:t>Alertas</a:t>
            </a:r>
            <a:endParaRPr lang="en-US" sz="1300" dirty="0"/>
          </a:p>
        </p:txBody>
      </p:sp>
      <p:sp>
        <p:nvSpPr>
          <p:cNvPr id="4" name="Text 2"/>
          <p:cNvSpPr>
            <a:spLocks noGrp="1"/>
          </p:cNvSpPr>
          <p:nvPr>
            <p:ph type="title"/>
          </p:nvPr>
        </p:nvSpPr>
        <p:spPr>
          <a:xfrm>
            <a:off x="812800" y="1094739"/>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2A44"/>
                </a:solidFill>
                <a:latin typeface="Poppins" pitchFamily="34" charset="0"/>
                <a:ea typeface="Poppins" pitchFamily="34" charset="-122"/>
                <a:cs typeface="Poppins" pitchFamily="34" charset="-120"/>
              </a:rPr>
              <a:t>Un mismo evento, dos cálculos</a:t>
            </a:r>
            <a:endParaRPr lang="en-US" sz="3200" dirty="0"/>
          </a:p>
        </p:txBody>
      </p:sp>
      <p:sp>
        <p:nvSpPr>
          <p:cNvPr id="5" name="Shape 3"/>
          <p:cNvSpPr/>
          <p:nvPr/>
        </p:nvSpPr>
        <p:spPr>
          <a:xfrm>
            <a:off x="812800" y="1846582"/>
            <a:ext cx="4953000" cy="3276600"/>
          </a:xfrm>
          <a:prstGeom prst="roundRect">
            <a:avLst>
              <a:gd name="adj" fmla="val 2326"/>
            </a:avLst>
          </a:prstGeom>
          <a:solidFill>
            <a:srgbClr val="FFFFFF"/>
          </a:solidFill>
          <a:ln/>
        </p:spPr>
      </p:sp>
      <p:pic>
        <p:nvPicPr>
          <p:cNvPr id="6" name="Image 0" descr="Aplicación web mostrando la alerta roja del monitor y el crecimiento observado amarillo calculado por la página"/>
          <p:cNvPicPr>
            <a:picLocks noChangeAspect="1"/>
          </p:cNvPicPr>
          <p:nvPr/>
        </p:nvPicPr>
        <p:blipFill>
          <a:blip r:embed="rId3"/>
          <a:srcRect l="-67" r="-67"/>
          <a:stretch/>
        </p:blipFill>
        <p:spPr>
          <a:xfrm>
            <a:off x="825500" y="1859282"/>
            <a:ext cx="4927600" cy="3251200"/>
          </a:xfrm>
          <a:prstGeom prst="roundRect">
            <a:avLst>
              <a:gd name="adj" fmla="val 1953"/>
            </a:avLst>
          </a:prstGeom>
        </p:spPr>
      </p:pic>
      <p:sp>
        <p:nvSpPr>
          <p:cNvPr id="7" name="Shape 4"/>
          <p:cNvSpPr/>
          <p:nvPr/>
        </p:nvSpPr>
        <p:spPr>
          <a:xfrm>
            <a:off x="819150" y="1852932"/>
            <a:ext cx="4940300" cy="3263900"/>
          </a:xfrm>
          <a:prstGeom prst="roundRect">
            <a:avLst>
              <a:gd name="adj" fmla="val 2140"/>
            </a:avLst>
          </a:prstGeom>
          <a:noFill/>
          <a:ln w="12700">
            <a:solidFill>
              <a:srgbClr val="E1EAF5"/>
            </a:solidFill>
            <a:prstDash val="solid"/>
          </a:ln>
        </p:spPr>
      </p:sp>
      <p:sp>
        <p:nvSpPr>
          <p:cNvPr id="8" name="Shape 5"/>
          <p:cNvSpPr/>
          <p:nvPr/>
        </p:nvSpPr>
        <p:spPr>
          <a:xfrm>
            <a:off x="6172200" y="1846582"/>
            <a:ext cx="5207000" cy="1342390"/>
          </a:xfrm>
          <a:prstGeom prst="roundRect">
            <a:avLst>
              <a:gd name="adj" fmla="val 7569"/>
            </a:avLst>
          </a:prstGeom>
          <a:solidFill>
            <a:srgbClr val="F3F8FE"/>
          </a:solidFill>
          <a:ln/>
        </p:spPr>
      </p:sp>
      <p:sp>
        <p:nvSpPr>
          <p:cNvPr id="9" name="Text 6"/>
          <p:cNvSpPr/>
          <p:nvPr/>
        </p:nvSpPr>
        <p:spPr>
          <a:xfrm>
            <a:off x="6400800" y="2024382"/>
            <a:ext cx="2032000" cy="289560"/>
          </a:xfrm>
          <a:custGeom>
            <a:avLst/>
            <a:gdLst/>
            <a:ahLst/>
            <a:cxnLst/>
            <a:rect l="l" t="t" r="r" b="b"/>
            <a:pathLst>
              <a:path w="2032000" h="289560">
                <a:moveTo>
                  <a:pt x="144780" y="0"/>
                </a:moveTo>
                <a:lnTo>
                  <a:pt x="1887220" y="0"/>
                </a:lnTo>
                <a:arcTo wR="144780" hR="144780" stAng="16200000" swAng="5400000"/>
                <a:lnTo>
                  <a:pt x="2032000" y="144780"/>
                </a:lnTo>
                <a:arcTo wR="144780" hR="144780" stAng="0" swAng="5400000"/>
                <a:lnTo>
                  <a:pt x="144780" y="289560"/>
                </a:lnTo>
                <a:arcTo wR="144780" hR="144780" stAng="5400000" swAng="5400000"/>
                <a:lnTo>
                  <a:pt x="0" y="144780"/>
                </a:lnTo>
                <a:arcTo wR="144780" hR="144780" stAng="10800000" swAng="5400000"/>
                <a:close/>
              </a:path>
            </a:pathLst>
          </a:custGeom>
          <a:solidFill>
            <a:srgbClr val="D13438"/>
          </a:solidFill>
          <a:ln/>
        </p:spPr>
        <p:txBody>
          <a:bodyPr wrap="square" lIns="126492" tIns="38100" rIns="126492" bIns="12700" rtlCol="0" anchor="t">
            <a:normAutofit/>
          </a:bodyPr>
          <a:lstStyle/>
          <a:p>
            <a:pPr marL="0" indent="0" algn="ctr">
              <a:lnSpc>
                <a:spcPts val="1680"/>
              </a:lnSpc>
              <a:buNone/>
            </a:pPr>
            <a:r>
              <a:rPr lang="en-US" sz="1200" b="1" dirty="0">
                <a:solidFill>
                  <a:srgbClr val="FFFFFF"/>
                </a:solidFill>
                <a:latin typeface="Poppins" pitchFamily="34" charset="0"/>
                <a:ea typeface="Poppins" pitchFamily="34" charset="-122"/>
                <a:cs typeface="Poppins" pitchFamily="34" charset="-120"/>
              </a:rPr>
              <a:t>Alerta del monitor</a:t>
            </a:r>
            <a:endParaRPr lang="en-US" sz="1200" dirty="0"/>
          </a:p>
        </p:txBody>
      </p:sp>
      <p:sp>
        <p:nvSpPr>
          <p:cNvPr id="10" name="Text 7"/>
          <p:cNvSpPr/>
          <p:nvPr/>
        </p:nvSpPr>
        <p:spPr>
          <a:xfrm>
            <a:off x="6400800" y="2377439"/>
            <a:ext cx="4892294" cy="34671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F2A44"/>
                </a:solidFill>
                <a:latin typeface="Poppins" pitchFamily="34" charset="0"/>
                <a:ea typeface="Poppins" pitchFamily="34" charset="-122"/>
                <a:cs typeface="Poppins" pitchFamily="34" charset="-120"/>
              </a:rPr>
              <a:t>+160 %</a:t>
            </a:r>
            <a:endParaRPr lang="en-US" sz="2200" dirty="0"/>
          </a:p>
        </p:txBody>
      </p:sp>
      <p:sp>
        <p:nvSpPr>
          <p:cNvPr id="11" name="Text 8"/>
          <p:cNvSpPr/>
          <p:nvPr/>
        </p:nvSpPr>
        <p:spPr>
          <a:xfrm>
            <a:off x="6400800" y="2762250"/>
            <a:ext cx="489229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78"/>
                </a:solidFill>
                <a:latin typeface="Poppins" pitchFamily="34" charset="0"/>
                <a:ea typeface="Poppins" pitchFamily="34" charset="-122"/>
                <a:cs typeface="Poppins" pitchFamily="34" charset="-120"/>
              </a:rPr>
              <a:t>62,4 → 162,4 MB en 6 muestras, segundo 70.</a:t>
            </a:r>
            <a:endParaRPr lang="en-US" sz="1400" dirty="0"/>
          </a:p>
        </p:txBody>
      </p:sp>
      <p:sp>
        <p:nvSpPr>
          <p:cNvPr id="12" name="Shape 9"/>
          <p:cNvSpPr/>
          <p:nvPr/>
        </p:nvSpPr>
        <p:spPr>
          <a:xfrm>
            <a:off x="6172200" y="3366771"/>
            <a:ext cx="5207000" cy="1342390"/>
          </a:xfrm>
          <a:prstGeom prst="roundRect">
            <a:avLst>
              <a:gd name="adj" fmla="val 7569"/>
            </a:avLst>
          </a:prstGeom>
          <a:solidFill>
            <a:srgbClr val="F3F8FE"/>
          </a:solidFill>
          <a:ln/>
        </p:spPr>
      </p:sp>
      <p:sp>
        <p:nvSpPr>
          <p:cNvPr id="13" name="Text 10"/>
          <p:cNvSpPr/>
          <p:nvPr/>
        </p:nvSpPr>
        <p:spPr>
          <a:xfrm>
            <a:off x="6400800" y="3544571"/>
            <a:ext cx="2032000" cy="289560"/>
          </a:xfrm>
          <a:custGeom>
            <a:avLst/>
            <a:gdLst/>
            <a:ahLst/>
            <a:cxnLst/>
            <a:rect l="l" t="t" r="r" b="b"/>
            <a:pathLst>
              <a:path w="2032000" h="289560">
                <a:moveTo>
                  <a:pt x="144780" y="0"/>
                </a:moveTo>
                <a:lnTo>
                  <a:pt x="1887220" y="0"/>
                </a:lnTo>
                <a:arcTo wR="144780" hR="144780" stAng="16200000" swAng="5400000"/>
                <a:lnTo>
                  <a:pt x="2032000" y="144780"/>
                </a:lnTo>
                <a:arcTo wR="144780" hR="144780" stAng="0" swAng="5400000"/>
                <a:lnTo>
                  <a:pt x="144780" y="289560"/>
                </a:lnTo>
                <a:arcTo wR="144780" hR="144780" stAng="5400000" swAng="5400000"/>
                <a:lnTo>
                  <a:pt x="0" y="144780"/>
                </a:lnTo>
                <a:arcTo wR="144780" hR="144780" stAng="10800000" swAng="5400000"/>
                <a:close/>
              </a:path>
            </a:pathLst>
          </a:custGeom>
          <a:solidFill>
            <a:srgbClr val="F5C542"/>
          </a:solidFill>
          <a:ln/>
        </p:spPr>
        <p:txBody>
          <a:bodyPr wrap="square" lIns="126492" tIns="38100" rIns="126492" bIns="12700" rtlCol="0" anchor="t">
            <a:normAutofit/>
          </a:bodyPr>
          <a:lstStyle/>
          <a:p>
            <a:pPr marL="0" indent="0" algn="ctr">
              <a:lnSpc>
                <a:spcPts val="1680"/>
              </a:lnSpc>
              <a:buNone/>
            </a:pPr>
            <a:r>
              <a:rPr lang="en-US" sz="1200" b="1" dirty="0">
                <a:solidFill>
                  <a:srgbClr val="1F2A44"/>
                </a:solidFill>
                <a:latin typeface="Poppins" pitchFamily="34" charset="0"/>
                <a:ea typeface="Poppins" pitchFamily="34" charset="-122"/>
                <a:cs typeface="Poppins" pitchFamily="34" charset="-120"/>
              </a:rPr>
              <a:t>Cálculo de la web</a:t>
            </a:r>
            <a:endParaRPr lang="en-US" sz="1200" dirty="0"/>
          </a:p>
        </p:txBody>
      </p:sp>
      <p:sp>
        <p:nvSpPr>
          <p:cNvPr id="14" name="Text 11"/>
          <p:cNvSpPr/>
          <p:nvPr/>
        </p:nvSpPr>
        <p:spPr>
          <a:xfrm>
            <a:off x="6400800" y="3897632"/>
            <a:ext cx="4892294" cy="34671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F2A44"/>
                </a:solidFill>
                <a:latin typeface="Poppins" pitchFamily="34" charset="0"/>
                <a:ea typeface="Poppins" pitchFamily="34" charset="-122"/>
                <a:cs typeface="Poppins" pitchFamily="34" charset="-120"/>
              </a:rPr>
              <a:t>+526,3 %</a:t>
            </a:r>
            <a:endParaRPr lang="en-US" sz="2200" dirty="0"/>
          </a:p>
        </p:txBody>
      </p:sp>
      <p:sp>
        <p:nvSpPr>
          <p:cNvPr id="15" name="Text 12"/>
          <p:cNvSpPr/>
          <p:nvPr/>
        </p:nvSpPr>
        <p:spPr>
          <a:xfrm>
            <a:off x="6400800" y="4282439"/>
            <a:ext cx="489229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78"/>
                </a:solidFill>
                <a:latin typeface="Poppins" pitchFamily="34" charset="0"/>
                <a:ea typeface="Poppins" pitchFamily="34" charset="-122"/>
                <a:cs typeface="Poppins" pitchFamily="34" charset="-120"/>
              </a:rPr>
              <a:t>51,8 → 324,4 MB, primera frente a última medición.</a:t>
            </a:r>
            <a:endParaRPr lang="en-US" sz="1400" dirty="0"/>
          </a:p>
        </p:txBody>
      </p:sp>
      <p:sp>
        <p:nvSpPr>
          <p:cNvPr id="16" name="Text 13"/>
          <p:cNvSpPr/>
          <p:nvPr/>
        </p:nvSpPr>
        <p:spPr>
          <a:xfrm>
            <a:off x="812800" y="5427982"/>
            <a:ext cx="9810750" cy="292100"/>
          </a:xfrm>
          <a:prstGeom prst="rect">
            <a:avLst/>
          </a:prstGeom>
          <a:noFill/>
          <a:ln/>
        </p:spPr>
        <p:txBody>
          <a:bodyPr wrap="square" lIns="0" tIns="0" rIns="0" bIns="0" rtlCol="0" anchor="t">
            <a:normAutofit/>
          </a:bodyPr>
          <a:lstStyle/>
          <a:p>
            <a:pPr marL="0" indent="0" algn="l">
              <a:lnSpc>
                <a:spcPts val="2100"/>
              </a:lnSpc>
              <a:buNone/>
            </a:pPr>
            <a:r>
              <a:rPr lang="es-CR" sz="1500" b="1" dirty="0">
                <a:solidFill>
                  <a:schemeClr val="accent3"/>
                </a:solidFill>
                <a:latin typeface="Poppins" pitchFamily="34" charset="0"/>
                <a:ea typeface="Poppins" pitchFamily="34" charset="-122"/>
                <a:cs typeface="Poppins" pitchFamily="34" charset="-120"/>
              </a:rPr>
              <a:t> Importante</a:t>
            </a:r>
            <a:r>
              <a:rPr lang="es-CR" sz="1500" dirty="0">
                <a:solidFill>
                  <a:srgbClr val="4A5A78"/>
                </a:solidFill>
                <a:latin typeface="Poppins" pitchFamily="34" charset="0"/>
                <a:ea typeface="Poppins" pitchFamily="34" charset="-122"/>
                <a:cs typeface="Poppins" pitchFamily="34" charset="-120"/>
              </a:rPr>
              <a:t>: Vemos</a:t>
            </a:r>
            <a:r>
              <a:rPr lang="en-US" sz="1500" dirty="0">
                <a:solidFill>
                  <a:srgbClr val="4A5A78"/>
                </a:solidFill>
                <a:latin typeface="Poppins" pitchFamily="34" charset="0"/>
                <a:ea typeface="Poppins" pitchFamily="34" charset="-122"/>
                <a:cs typeface="Poppins" pitchFamily="34" charset="-120"/>
              </a:rPr>
              <a:t> 2 </a:t>
            </a:r>
            <a:r>
              <a:rPr lang="es-CR" sz="1500" dirty="0">
                <a:solidFill>
                  <a:srgbClr val="4A5A78"/>
                </a:solidFill>
                <a:latin typeface="Poppins" pitchFamily="34" charset="0"/>
                <a:ea typeface="Poppins" pitchFamily="34" charset="-122"/>
                <a:cs typeface="Poppins" pitchFamily="34" charset="-120"/>
              </a:rPr>
              <a:t>eventos</a:t>
            </a:r>
            <a:r>
              <a:rPr lang="en-US" sz="1500" dirty="0">
                <a:solidFill>
                  <a:srgbClr val="4A5A78"/>
                </a:solidFill>
                <a:latin typeface="Poppins" pitchFamily="34" charset="0"/>
                <a:ea typeface="Poppins" pitchFamily="34" charset="-122"/>
                <a:cs typeface="Poppins" pitchFamily="34" charset="-120"/>
              </a:rPr>
              <a:t> </a:t>
            </a:r>
            <a:r>
              <a:rPr lang="es-CR" sz="1500" dirty="0">
                <a:solidFill>
                  <a:srgbClr val="4A5A78"/>
                </a:solidFill>
                <a:latin typeface="Poppins" pitchFamily="34" charset="0"/>
                <a:ea typeface="Poppins" pitchFamily="34" charset="-122"/>
                <a:cs typeface="Poppins" pitchFamily="34" charset="-120"/>
              </a:rPr>
              <a:t>pero</a:t>
            </a:r>
            <a:r>
              <a:rPr lang="en-US" sz="1500" dirty="0">
                <a:solidFill>
                  <a:srgbClr val="4A5A78"/>
                </a:solidFill>
                <a:latin typeface="Poppins" pitchFamily="34" charset="0"/>
                <a:ea typeface="Poppins" pitchFamily="34" charset="-122"/>
                <a:cs typeface="Poppins" pitchFamily="34" charset="-120"/>
              </a:rPr>
              <a:t> no son dos </a:t>
            </a:r>
            <a:r>
              <a:rPr lang="en-US" sz="1500" dirty="0" err="1">
                <a:solidFill>
                  <a:srgbClr val="4A5A78"/>
                </a:solidFill>
                <a:latin typeface="Poppins" pitchFamily="34" charset="0"/>
                <a:ea typeface="Poppins" pitchFamily="34" charset="-122"/>
                <a:cs typeface="Poppins" pitchFamily="34" charset="-120"/>
              </a:rPr>
              <a:t>ataques</a:t>
            </a:r>
            <a:r>
              <a:rPr lang="en-US" sz="1500" dirty="0">
                <a:solidFill>
                  <a:srgbClr val="4A5A78"/>
                </a:solidFill>
                <a:latin typeface="Poppins" pitchFamily="34" charset="0"/>
                <a:ea typeface="Poppins" pitchFamily="34" charset="-122"/>
                <a:cs typeface="Poppins" pitchFamily="34" charset="-120"/>
              </a:rPr>
              <a:t>, cada método compara un período distinto.</a:t>
            </a:r>
            <a:endParaRPr lang="en-US" sz="1500" dirty="0"/>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gradFill rotWithShape="1">
            <a:gsLst>
              <a:gs pos="0">
                <a:srgbClr val="F0F6FF"/>
              </a:gs>
              <a:gs pos="100000">
                <a:srgbClr val="63A4FA"/>
              </a:gs>
            </a:gsLst>
            <a:lin ang="5400000" scaled="0"/>
          </a:gradFill>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F6BFA"/>
                </a:solidFill>
                <a:latin typeface="Poppins" pitchFamily="34" charset="0"/>
                <a:ea typeface="Poppins" pitchFamily="34" charset="-122"/>
                <a:cs typeface="Poppins" pitchFamily="34" charset="-120"/>
              </a:rPr>
              <a:t>Protecciones de credenciales</a:t>
            </a:r>
            <a:endParaRPr lang="en-US" sz="1300" dirty="0"/>
          </a:p>
        </p:txBody>
      </p:sp>
      <p:sp>
        <p:nvSpPr>
          <p:cNvPr id="4" name="Text 2"/>
          <p:cNvSpPr>
            <a:spLocks noGrp="1"/>
          </p:cNvSpPr>
          <p:nvPr>
            <p:ph type="title"/>
          </p:nvPr>
        </p:nvSpPr>
        <p:spPr>
          <a:xfrm>
            <a:off x="812800" y="1094739"/>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2A44"/>
                </a:solidFill>
                <a:latin typeface="Poppins" pitchFamily="34" charset="0"/>
                <a:ea typeface="Poppins" pitchFamily="34" charset="-122"/>
                <a:cs typeface="Poppins" pitchFamily="34" charset="-120"/>
              </a:rPr>
              <a:t>Estado registrado en el equipo</a:t>
            </a:r>
            <a:endParaRPr lang="en-US" sz="3200" dirty="0"/>
          </a:p>
        </p:txBody>
      </p:sp>
      <p:sp>
        <p:nvSpPr>
          <p:cNvPr id="5" name="Shape 3"/>
          <p:cNvSpPr/>
          <p:nvPr/>
        </p:nvSpPr>
        <p:spPr>
          <a:xfrm>
            <a:off x="812800" y="1846582"/>
            <a:ext cx="5588000" cy="3429000"/>
          </a:xfrm>
          <a:prstGeom prst="roundRect">
            <a:avLst>
              <a:gd name="adj" fmla="val 2222"/>
            </a:avLst>
          </a:prstGeom>
          <a:solidFill>
            <a:srgbClr val="FFFFFF"/>
          </a:solidFill>
          <a:ln/>
        </p:spPr>
      </p:sp>
      <p:pic>
        <p:nvPicPr>
          <p:cNvPr id="6" name="Image 0" descr="Aplicación web mostrando LSA Protection activa y Credential Guard inactivo"/>
          <p:cNvPicPr>
            <a:picLocks noChangeAspect="1"/>
          </p:cNvPicPr>
          <p:nvPr/>
        </p:nvPicPr>
        <p:blipFill>
          <a:blip r:embed="rId3"/>
          <a:stretch>
            <a:fillRect/>
          </a:stretch>
        </p:blipFill>
        <p:spPr>
          <a:xfrm>
            <a:off x="825500" y="1913680"/>
            <a:ext cx="5562600" cy="3294803"/>
          </a:xfrm>
          <a:custGeom>
            <a:avLst/>
            <a:gdLst/>
            <a:ahLst/>
            <a:cxnLst/>
            <a:rect l="l" t="t" r="r" b="b"/>
            <a:pathLst>
              <a:path w="5562600" h="3294803">
                <a:moveTo>
                  <a:pt x="0" y="9102"/>
                </a:moveTo>
                <a:arcTo wR="63500" hR="63500" stAng="10800000" swAng="494438"/>
                <a:lnTo>
                  <a:pt x="5561944" y="0"/>
                </a:lnTo>
                <a:arcTo wR="63500" hR="63500" stAng="21105562" swAng="494438"/>
                <a:lnTo>
                  <a:pt x="5562600" y="3285702"/>
                </a:lnTo>
                <a:arcTo wR="63500" hR="63500" stAng="0" swAng="494438"/>
                <a:lnTo>
                  <a:pt x="656" y="3294803"/>
                </a:lnTo>
                <a:arcTo wR="63500" hR="63500" stAng="10305562" swAng="494438"/>
                <a:close/>
              </a:path>
            </a:pathLst>
          </a:custGeom>
        </p:spPr>
      </p:pic>
      <p:sp>
        <p:nvSpPr>
          <p:cNvPr id="7" name="Shape 4"/>
          <p:cNvSpPr/>
          <p:nvPr/>
        </p:nvSpPr>
        <p:spPr>
          <a:xfrm>
            <a:off x="819150" y="1852932"/>
            <a:ext cx="5575300" cy="3416300"/>
          </a:xfrm>
          <a:prstGeom prst="roundRect">
            <a:avLst>
              <a:gd name="adj" fmla="val 2045"/>
            </a:avLst>
          </a:prstGeom>
          <a:noFill/>
          <a:ln w="12700">
            <a:solidFill>
              <a:srgbClr val="E1EAF5"/>
            </a:solidFill>
            <a:prstDash val="solid"/>
          </a:ln>
        </p:spPr>
      </p:sp>
      <p:sp>
        <p:nvSpPr>
          <p:cNvPr id="8" name="Shape 5"/>
          <p:cNvSpPr/>
          <p:nvPr/>
        </p:nvSpPr>
        <p:spPr>
          <a:xfrm>
            <a:off x="6807200" y="1846582"/>
            <a:ext cx="4572000" cy="1419860"/>
          </a:xfrm>
          <a:prstGeom prst="roundRect">
            <a:avLst>
              <a:gd name="adj" fmla="val 5367"/>
            </a:avLst>
          </a:prstGeom>
          <a:solidFill>
            <a:srgbClr val="F3F8FE"/>
          </a:solidFill>
          <a:ln/>
        </p:spPr>
      </p:sp>
      <p:sp>
        <p:nvSpPr>
          <p:cNvPr id="9" name="Shape 6"/>
          <p:cNvSpPr/>
          <p:nvPr/>
        </p:nvSpPr>
        <p:spPr>
          <a:xfrm>
            <a:off x="6807200" y="1846582"/>
            <a:ext cx="4572000" cy="1419860"/>
          </a:xfrm>
          <a:custGeom>
            <a:avLst/>
            <a:gdLst/>
            <a:ahLst/>
            <a:cxnLst/>
            <a:rect l="l" t="t" r="r" b="b"/>
            <a:pathLst>
              <a:path w="4572000" h="1419860">
                <a:moveTo>
                  <a:pt x="76200" y="1419860"/>
                </a:moveTo>
                <a:lnTo>
                  <a:pt x="76200" y="1419860"/>
                </a:lnTo>
                <a:arcTo wR="76200" hR="76200" stAng="5400000" swAng="5400000"/>
                <a:lnTo>
                  <a:pt x="0" y="76200"/>
                </a:lnTo>
                <a:arcTo wR="76200" hR="76200" stAng="10800000" swAng="5400000"/>
                <a:lnTo>
                  <a:pt x="76200" y="0"/>
                </a:lnTo>
                <a:arcTo wR="25400" hR="76200" stAng="16200000" swAng="-5400000"/>
                <a:lnTo>
                  <a:pt x="50800" y="1343660"/>
                </a:lnTo>
                <a:arcTo wR="25400" hR="76200" stAng="10800000" swAng="-5400000"/>
                <a:close/>
              </a:path>
            </a:pathLst>
          </a:custGeom>
          <a:solidFill>
            <a:srgbClr val="63A4FA"/>
          </a:solidFill>
          <a:ln/>
        </p:spPr>
      </p:sp>
      <p:sp>
        <p:nvSpPr>
          <p:cNvPr id="10" name="Text 7"/>
          <p:cNvSpPr/>
          <p:nvPr/>
        </p:nvSpPr>
        <p:spPr>
          <a:xfrm>
            <a:off x="7086600" y="2024382"/>
            <a:ext cx="4185920"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F2A44"/>
                </a:solidFill>
                <a:latin typeface="Poppins" pitchFamily="34" charset="0"/>
                <a:ea typeface="Poppins" pitchFamily="34" charset="-122"/>
                <a:cs typeface="Poppins" pitchFamily="34" charset="-120"/>
              </a:rPr>
              <a:t>LSA Protection</a:t>
            </a:r>
            <a:endParaRPr lang="en-US" sz="1700" dirty="0"/>
          </a:p>
        </p:txBody>
      </p:sp>
      <p:sp>
        <p:nvSpPr>
          <p:cNvPr id="11" name="Text 8"/>
          <p:cNvSpPr/>
          <p:nvPr/>
        </p:nvSpPr>
        <p:spPr>
          <a:xfrm>
            <a:off x="7086600" y="2321561"/>
            <a:ext cx="418592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4F6BFA"/>
                </a:solidFill>
                <a:latin typeface="Poppins" pitchFamily="34" charset="0"/>
                <a:ea typeface="Poppins" pitchFamily="34" charset="-122"/>
                <a:cs typeface="Poppins" pitchFamily="34" charset="-120"/>
              </a:rPr>
              <a:t>Activa · RunAsPPL = 2</a:t>
            </a:r>
            <a:endParaRPr lang="en-US" sz="1500" dirty="0"/>
          </a:p>
        </p:txBody>
      </p:sp>
      <p:sp>
        <p:nvSpPr>
          <p:cNvPr id="12" name="Text 9"/>
          <p:cNvSpPr/>
          <p:nvPr/>
        </p:nvSpPr>
        <p:spPr>
          <a:xfrm>
            <a:off x="7086600" y="2626361"/>
            <a:ext cx="418592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78"/>
                </a:solidFill>
                <a:latin typeface="Poppins" pitchFamily="34" charset="0"/>
                <a:ea typeface="Poppins" pitchFamily="34" charset="-122"/>
                <a:cs typeface="Poppins" pitchFamily="34" charset="-120"/>
              </a:rPr>
              <a:t>Reduce ciertas formas de acceso no autorizado a LSASS.</a:t>
            </a:r>
            <a:endParaRPr lang="en-US" sz="1300" dirty="0"/>
          </a:p>
        </p:txBody>
      </p:sp>
      <p:sp>
        <p:nvSpPr>
          <p:cNvPr id="13" name="Shape 10"/>
          <p:cNvSpPr/>
          <p:nvPr/>
        </p:nvSpPr>
        <p:spPr>
          <a:xfrm>
            <a:off x="6807200" y="3444239"/>
            <a:ext cx="4572000" cy="1188720"/>
          </a:xfrm>
          <a:prstGeom prst="roundRect">
            <a:avLst>
              <a:gd name="adj" fmla="val 6410"/>
            </a:avLst>
          </a:prstGeom>
          <a:solidFill>
            <a:srgbClr val="F3F8FE"/>
          </a:solidFill>
          <a:ln/>
        </p:spPr>
      </p:sp>
      <p:sp>
        <p:nvSpPr>
          <p:cNvPr id="14" name="Shape 11"/>
          <p:cNvSpPr/>
          <p:nvPr/>
        </p:nvSpPr>
        <p:spPr>
          <a:xfrm>
            <a:off x="6807200" y="3444239"/>
            <a:ext cx="4572000" cy="1188720"/>
          </a:xfrm>
          <a:custGeom>
            <a:avLst/>
            <a:gdLst/>
            <a:ahLst/>
            <a:cxnLst/>
            <a:rect l="l" t="t" r="r" b="b"/>
            <a:pathLst>
              <a:path w="4572000" h="1188720">
                <a:moveTo>
                  <a:pt x="76200" y="1188720"/>
                </a:moveTo>
                <a:lnTo>
                  <a:pt x="76200" y="1188720"/>
                </a:lnTo>
                <a:arcTo wR="76200" hR="76200" stAng="5400000" swAng="5400000"/>
                <a:lnTo>
                  <a:pt x="0" y="76200"/>
                </a:lnTo>
                <a:arcTo wR="76200" hR="76200" stAng="10800000" swAng="5400000"/>
                <a:lnTo>
                  <a:pt x="76200" y="0"/>
                </a:lnTo>
                <a:arcTo wR="25400" hR="76200" stAng="16200000" swAng="-5400000"/>
                <a:lnTo>
                  <a:pt x="50800" y="1112520"/>
                </a:lnTo>
                <a:arcTo wR="25400" hR="76200" stAng="10800000" swAng="-5400000"/>
                <a:close/>
              </a:path>
            </a:pathLst>
          </a:custGeom>
          <a:solidFill>
            <a:srgbClr val="B4530A"/>
          </a:solidFill>
          <a:ln/>
        </p:spPr>
      </p:sp>
      <p:sp>
        <p:nvSpPr>
          <p:cNvPr id="15" name="Text 12"/>
          <p:cNvSpPr/>
          <p:nvPr/>
        </p:nvSpPr>
        <p:spPr>
          <a:xfrm>
            <a:off x="7086600" y="3622039"/>
            <a:ext cx="4185920"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F2A44"/>
                </a:solidFill>
                <a:latin typeface="Poppins" pitchFamily="34" charset="0"/>
                <a:ea typeface="Poppins" pitchFamily="34" charset="-122"/>
                <a:cs typeface="Poppins" pitchFamily="34" charset="-120"/>
              </a:rPr>
              <a:t>Credential Guard</a:t>
            </a:r>
            <a:endParaRPr lang="en-US" sz="1700" dirty="0"/>
          </a:p>
        </p:txBody>
      </p:sp>
      <p:sp>
        <p:nvSpPr>
          <p:cNvPr id="16" name="Text 13"/>
          <p:cNvSpPr/>
          <p:nvPr/>
        </p:nvSpPr>
        <p:spPr>
          <a:xfrm>
            <a:off x="7086600" y="3919221"/>
            <a:ext cx="418592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B4530A"/>
                </a:solidFill>
                <a:latin typeface="Poppins" pitchFamily="34" charset="0"/>
                <a:ea typeface="Poppins" pitchFamily="34" charset="-122"/>
                <a:cs typeface="Poppins" pitchFamily="34" charset="-120"/>
              </a:rPr>
              <a:t>Inactivo</a:t>
            </a:r>
            <a:endParaRPr lang="en-US" sz="1500" dirty="0"/>
          </a:p>
        </p:txBody>
      </p:sp>
      <p:sp>
        <p:nvSpPr>
          <p:cNvPr id="17" name="Text 14"/>
          <p:cNvSpPr/>
          <p:nvPr/>
        </p:nvSpPr>
        <p:spPr>
          <a:xfrm>
            <a:off x="7086600" y="4224021"/>
            <a:ext cx="418592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78"/>
                </a:solidFill>
                <a:latin typeface="Poppins" pitchFamily="34" charset="0"/>
                <a:ea typeface="Poppins" pitchFamily="34" charset="-122"/>
                <a:cs typeface="Poppins" pitchFamily="34" charset="-120"/>
              </a:rPr>
              <a:t>Aísla credenciales mediante virtualización.</a:t>
            </a:r>
            <a:endParaRPr lang="en-US" sz="1300" dirty="0"/>
          </a:p>
        </p:txBody>
      </p:sp>
      <p:sp>
        <p:nvSpPr>
          <p:cNvPr id="18" name="Text 15"/>
          <p:cNvSpPr/>
          <p:nvPr/>
        </p:nvSpPr>
        <p:spPr>
          <a:xfrm>
            <a:off x="812800" y="5580382"/>
            <a:ext cx="9810750" cy="274320"/>
          </a:xfrm>
          <a:prstGeom prst="rect">
            <a:avLst/>
          </a:prstGeom>
          <a:noFill/>
          <a:ln/>
        </p:spPr>
        <p:txBody>
          <a:bodyPr wrap="square" lIns="0" tIns="0" rIns="0" bIns="0" rtlCol="0" anchor="t">
            <a:normAutofit/>
          </a:bodyPr>
          <a:lstStyle/>
          <a:p>
            <a:pPr marL="0" indent="0" algn="l">
              <a:lnSpc>
                <a:spcPts val="1960"/>
              </a:lnSpc>
              <a:buNone/>
            </a:pPr>
            <a:r>
              <a:rPr lang="es-CR" sz="1400" b="1" dirty="0">
                <a:solidFill>
                  <a:schemeClr val="accent3"/>
                </a:solidFill>
                <a:latin typeface="Poppins" pitchFamily="34" charset="0"/>
                <a:ea typeface="Poppins" pitchFamily="34" charset="-122"/>
                <a:cs typeface="Poppins" pitchFamily="34" charset="-120"/>
              </a:rPr>
              <a:t>Importante: </a:t>
            </a:r>
            <a:r>
              <a:rPr lang="en-US" sz="1400" dirty="0">
                <a:solidFill>
                  <a:srgbClr val="4A5A78"/>
                </a:solidFill>
                <a:latin typeface="Poppins" pitchFamily="34" charset="0"/>
                <a:ea typeface="Poppins" pitchFamily="34" charset="-122"/>
                <a:cs typeface="Poppins" pitchFamily="34" charset="-120"/>
              </a:rPr>
              <a:t>no garantiza que el equipo esté protegido ni desprotegido.</a:t>
            </a:r>
            <a:endParaRPr lang="en-US" sz="1400" dirty="0"/>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gradFill rotWithShape="1">
            <a:gsLst>
              <a:gs pos="0">
                <a:srgbClr val="F0F6FF"/>
              </a:gs>
              <a:gs pos="100000">
                <a:srgbClr val="63A4FA"/>
              </a:gs>
            </a:gsLst>
            <a:lin ang="5400000" scaled="0"/>
          </a:gradFill>
          <a:ln/>
        </p:spPr>
      </p:sp>
      <p:sp>
        <p:nvSpPr>
          <p:cNvPr id="4" name="Text 2"/>
          <p:cNvSpPr>
            <a:spLocks noGrp="1"/>
          </p:cNvSpPr>
          <p:nvPr>
            <p:ph type="title"/>
          </p:nvPr>
        </p:nvSpPr>
        <p:spPr>
          <a:xfrm>
            <a:off x="812800" y="1094739"/>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1F2A44"/>
                </a:solidFill>
                <a:latin typeface="Poppins" pitchFamily="34" charset="0"/>
                <a:ea typeface="Poppins" pitchFamily="34" charset="-122"/>
                <a:cs typeface="Poppins" pitchFamily="34" charset="-120"/>
              </a:rPr>
              <a:t>Conclusiones</a:t>
            </a:r>
            <a:endParaRPr lang="en-US" sz="4000" dirty="0"/>
          </a:p>
        </p:txBody>
      </p:sp>
      <p:sp>
        <p:nvSpPr>
          <p:cNvPr id="5" name="Shape 3"/>
          <p:cNvSpPr/>
          <p:nvPr/>
        </p:nvSpPr>
        <p:spPr>
          <a:xfrm>
            <a:off x="812800" y="2009139"/>
            <a:ext cx="5181600" cy="1308100"/>
          </a:xfrm>
          <a:prstGeom prst="roundRect">
            <a:avLst>
              <a:gd name="adj" fmla="val 5825"/>
            </a:avLst>
          </a:prstGeom>
          <a:solidFill>
            <a:srgbClr val="BFD9F8"/>
          </a:solidFill>
          <a:ln/>
        </p:spPr>
      </p:sp>
      <p:sp>
        <p:nvSpPr>
          <p:cNvPr id="6" name="Text 4"/>
          <p:cNvSpPr/>
          <p:nvPr/>
        </p:nvSpPr>
        <p:spPr>
          <a:xfrm>
            <a:off x="1092200" y="2378711"/>
            <a:ext cx="685800" cy="59436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1F2A44"/>
                </a:solidFill>
                <a:latin typeface="Poppins" pitchFamily="34" charset="0"/>
                <a:ea typeface="Poppins" pitchFamily="34" charset="-122"/>
                <a:cs typeface="Poppins" pitchFamily="34" charset="-120"/>
              </a:rPr>
              <a:t>01</a:t>
            </a:r>
            <a:endParaRPr lang="en-US" sz="3200" dirty="0"/>
          </a:p>
        </p:txBody>
      </p:sp>
      <p:sp>
        <p:nvSpPr>
          <p:cNvPr id="7" name="Shape 5"/>
          <p:cNvSpPr/>
          <p:nvPr/>
        </p:nvSpPr>
        <p:spPr>
          <a:xfrm>
            <a:off x="1930400" y="2263139"/>
            <a:ext cx="25400" cy="800100"/>
          </a:xfrm>
          <a:prstGeom prst="rect">
            <a:avLst/>
          </a:prstGeom>
          <a:solidFill>
            <a:srgbClr val="63A4FA"/>
          </a:solidFill>
          <a:ln/>
        </p:spPr>
      </p:sp>
      <p:sp>
        <p:nvSpPr>
          <p:cNvPr id="8" name="Text 6"/>
          <p:cNvSpPr/>
          <p:nvPr/>
        </p:nvSpPr>
        <p:spPr>
          <a:xfrm>
            <a:off x="1984829" y="2147571"/>
            <a:ext cx="4145280" cy="825500"/>
          </a:xfrm>
          <a:prstGeom prst="rect">
            <a:avLst/>
          </a:prstGeom>
          <a:noFill/>
          <a:ln/>
        </p:spPr>
        <p:txBody>
          <a:bodyPr wrap="square" lIns="0" tIns="0" rIns="0" bIns="0" rtlCol="0" anchor="t">
            <a:noAutofit/>
          </a:bodyPr>
          <a:lstStyle/>
          <a:p>
            <a:pPr marL="0" indent="0">
              <a:lnSpc>
                <a:spcPts val="2100"/>
              </a:lnSpc>
              <a:buNone/>
            </a:pPr>
            <a:r>
              <a:rPr lang="es-MX" sz="1500" b="0" i="0" dirty="0">
                <a:solidFill>
                  <a:srgbClr val="1F2A44"/>
                </a:solidFill>
                <a:effectLst/>
                <a:latin typeface="Poppins" panose="00000500000000000000" pitchFamily="2" charset="0"/>
              </a:rPr>
              <a:t>Vigilar la memoria de los procesos en el tiempo ayuda a reconocer comportamientos sospechosos, pero un aumento no prueba malware por sí solo.</a:t>
            </a:r>
            <a:endParaRPr lang="en-US" sz="1500" dirty="0"/>
          </a:p>
        </p:txBody>
      </p:sp>
      <p:sp>
        <p:nvSpPr>
          <p:cNvPr id="9" name="Shape 7"/>
          <p:cNvSpPr/>
          <p:nvPr/>
        </p:nvSpPr>
        <p:spPr>
          <a:xfrm>
            <a:off x="6197600" y="2009139"/>
            <a:ext cx="5181600" cy="1308100"/>
          </a:xfrm>
          <a:prstGeom prst="roundRect">
            <a:avLst>
              <a:gd name="adj" fmla="val 5825"/>
            </a:avLst>
          </a:prstGeom>
          <a:solidFill>
            <a:srgbClr val="BFD9F8"/>
          </a:solidFill>
          <a:ln/>
        </p:spPr>
      </p:sp>
      <p:sp>
        <p:nvSpPr>
          <p:cNvPr id="10" name="Text 8"/>
          <p:cNvSpPr/>
          <p:nvPr/>
        </p:nvSpPr>
        <p:spPr>
          <a:xfrm>
            <a:off x="6477000" y="2378711"/>
            <a:ext cx="685800" cy="59436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1F2A44"/>
                </a:solidFill>
                <a:latin typeface="Poppins" pitchFamily="34" charset="0"/>
                <a:ea typeface="Poppins" pitchFamily="34" charset="-122"/>
                <a:cs typeface="Poppins" pitchFamily="34" charset="-120"/>
              </a:rPr>
              <a:t>02</a:t>
            </a:r>
            <a:endParaRPr lang="en-US" sz="3200" dirty="0"/>
          </a:p>
        </p:txBody>
      </p:sp>
      <p:sp>
        <p:nvSpPr>
          <p:cNvPr id="11" name="Shape 9"/>
          <p:cNvSpPr/>
          <p:nvPr/>
        </p:nvSpPr>
        <p:spPr>
          <a:xfrm>
            <a:off x="7315200" y="2263139"/>
            <a:ext cx="25400" cy="800100"/>
          </a:xfrm>
          <a:prstGeom prst="rect">
            <a:avLst/>
          </a:prstGeom>
          <a:solidFill>
            <a:srgbClr val="63A4FA"/>
          </a:solidFill>
          <a:ln/>
        </p:spPr>
      </p:sp>
      <p:sp>
        <p:nvSpPr>
          <p:cNvPr id="12" name="Text 10"/>
          <p:cNvSpPr/>
          <p:nvPr/>
        </p:nvSpPr>
        <p:spPr>
          <a:xfrm>
            <a:off x="7543800" y="2263139"/>
            <a:ext cx="3662680" cy="825500"/>
          </a:xfrm>
          <a:prstGeom prst="rect">
            <a:avLst/>
          </a:prstGeom>
          <a:noFill/>
          <a:ln/>
        </p:spPr>
        <p:txBody>
          <a:bodyPr wrap="square" lIns="0" tIns="0" rIns="0" bIns="0" rtlCol="0" anchor="t">
            <a:normAutofit fontScale="92500"/>
          </a:bodyPr>
          <a:lstStyle/>
          <a:p>
            <a:pPr marL="0" indent="0" algn="l">
              <a:lnSpc>
                <a:spcPts val="2100"/>
              </a:lnSpc>
              <a:buNone/>
            </a:pPr>
            <a:r>
              <a:rPr lang="es-MX" sz="1600" b="0" i="0" dirty="0">
                <a:solidFill>
                  <a:srgbClr val="1F2A44"/>
                </a:solidFill>
                <a:effectLst/>
                <a:latin typeface="Poppins" panose="00000500000000000000" pitchFamily="2" charset="0"/>
              </a:rPr>
              <a:t>El monitor alertó la fuga simulada en el segundo 70 y el gráfico mostró el crecimiento de 52 a 324 MB.</a:t>
            </a:r>
            <a:endParaRPr lang="en-US" sz="1500" dirty="0"/>
          </a:p>
        </p:txBody>
      </p:sp>
      <p:sp>
        <p:nvSpPr>
          <p:cNvPr id="13" name="Shape 11"/>
          <p:cNvSpPr/>
          <p:nvPr/>
        </p:nvSpPr>
        <p:spPr>
          <a:xfrm>
            <a:off x="812800" y="3520439"/>
            <a:ext cx="5181600" cy="1308100"/>
          </a:xfrm>
          <a:prstGeom prst="roundRect">
            <a:avLst>
              <a:gd name="adj" fmla="val 5825"/>
            </a:avLst>
          </a:prstGeom>
          <a:solidFill>
            <a:srgbClr val="BFD9F8"/>
          </a:solidFill>
          <a:ln/>
        </p:spPr>
      </p:sp>
      <p:sp>
        <p:nvSpPr>
          <p:cNvPr id="14" name="Text 12"/>
          <p:cNvSpPr/>
          <p:nvPr/>
        </p:nvSpPr>
        <p:spPr>
          <a:xfrm>
            <a:off x="1092200" y="3890011"/>
            <a:ext cx="685800" cy="59436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1F2A44"/>
                </a:solidFill>
                <a:latin typeface="Poppins" pitchFamily="34" charset="0"/>
                <a:ea typeface="Poppins" pitchFamily="34" charset="-122"/>
                <a:cs typeface="Poppins" pitchFamily="34" charset="-120"/>
              </a:rPr>
              <a:t>03</a:t>
            </a:r>
            <a:endParaRPr lang="en-US" sz="3200" dirty="0"/>
          </a:p>
        </p:txBody>
      </p:sp>
      <p:sp>
        <p:nvSpPr>
          <p:cNvPr id="15" name="Shape 13"/>
          <p:cNvSpPr/>
          <p:nvPr/>
        </p:nvSpPr>
        <p:spPr>
          <a:xfrm>
            <a:off x="1930400" y="3774439"/>
            <a:ext cx="25400" cy="800100"/>
          </a:xfrm>
          <a:prstGeom prst="rect">
            <a:avLst/>
          </a:prstGeom>
          <a:solidFill>
            <a:srgbClr val="63A4FA"/>
          </a:solidFill>
          <a:ln/>
        </p:spPr>
      </p:sp>
      <p:sp>
        <p:nvSpPr>
          <p:cNvPr id="16" name="Text 14"/>
          <p:cNvSpPr/>
          <p:nvPr/>
        </p:nvSpPr>
        <p:spPr>
          <a:xfrm>
            <a:off x="2159000" y="3774439"/>
            <a:ext cx="3662680" cy="825500"/>
          </a:xfrm>
          <a:prstGeom prst="rect">
            <a:avLst/>
          </a:prstGeom>
          <a:noFill/>
          <a:ln/>
        </p:spPr>
        <p:txBody>
          <a:bodyPr wrap="square" lIns="0" tIns="0" rIns="0" bIns="0" rtlCol="0" anchor="t">
            <a:normAutofit fontScale="92500"/>
          </a:bodyPr>
          <a:lstStyle/>
          <a:p>
            <a:pPr marL="0" indent="0" algn="l">
              <a:lnSpc>
                <a:spcPts val="2100"/>
              </a:lnSpc>
              <a:buNone/>
            </a:pPr>
            <a:r>
              <a:rPr lang="es-MX" sz="1600" b="0" i="0" dirty="0">
                <a:solidFill>
                  <a:srgbClr val="1F2A44"/>
                </a:solidFill>
                <a:effectLst/>
                <a:latin typeface="Poppins" panose="00000500000000000000" pitchFamily="2" charset="0"/>
              </a:rPr>
              <a:t>LSA </a:t>
            </a:r>
            <a:r>
              <a:rPr lang="es-MX" sz="1600" b="0" i="0" dirty="0" err="1">
                <a:solidFill>
                  <a:srgbClr val="1F2A44"/>
                </a:solidFill>
                <a:effectLst/>
                <a:latin typeface="Poppins" panose="00000500000000000000" pitchFamily="2" charset="0"/>
              </a:rPr>
              <a:t>Protection</a:t>
            </a:r>
            <a:r>
              <a:rPr lang="es-MX" sz="1600" b="0" i="0" dirty="0">
                <a:solidFill>
                  <a:srgbClr val="1F2A44"/>
                </a:solidFill>
                <a:effectLst/>
                <a:latin typeface="Poppins" panose="00000500000000000000" pitchFamily="2" charset="0"/>
              </a:rPr>
              <a:t> activa y </a:t>
            </a:r>
            <a:r>
              <a:rPr lang="es-MX" sz="1600" b="0" i="0" dirty="0" err="1">
                <a:solidFill>
                  <a:srgbClr val="1F2A44"/>
                </a:solidFill>
                <a:effectLst/>
                <a:latin typeface="Poppins" panose="00000500000000000000" pitchFamily="2" charset="0"/>
              </a:rPr>
              <a:t>Credential</a:t>
            </a:r>
            <a:r>
              <a:rPr lang="es-MX" sz="1600" b="0" i="0" dirty="0">
                <a:solidFill>
                  <a:srgbClr val="1F2A44"/>
                </a:solidFill>
                <a:effectLst/>
                <a:latin typeface="Poppins" panose="00000500000000000000" pitchFamily="2" charset="0"/>
              </a:rPr>
              <a:t> </a:t>
            </a:r>
            <a:r>
              <a:rPr lang="es-MX" sz="1600" b="0" i="0" dirty="0" err="1">
                <a:solidFill>
                  <a:srgbClr val="1F2A44"/>
                </a:solidFill>
                <a:effectLst/>
                <a:latin typeface="Poppins" panose="00000500000000000000" pitchFamily="2" charset="0"/>
              </a:rPr>
              <a:t>Guard</a:t>
            </a:r>
            <a:r>
              <a:rPr lang="es-MX" sz="1600" b="0" i="0" dirty="0">
                <a:solidFill>
                  <a:srgbClr val="1F2A44"/>
                </a:solidFill>
                <a:effectLst/>
                <a:latin typeface="Poppins" panose="00000500000000000000" pitchFamily="2" charset="0"/>
              </a:rPr>
              <a:t> inactivo describen la configuración, no la seguridad total.</a:t>
            </a:r>
            <a:endParaRPr lang="en-US" sz="1500" dirty="0"/>
          </a:p>
        </p:txBody>
      </p:sp>
      <p:sp>
        <p:nvSpPr>
          <p:cNvPr id="17" name="Shape 15"/>
          <p:cNvSpPr/>
          <p:nvPr/>
        </p:nvSpPr>
        <p:spPr>
          <a:xfrm>
            <a:off x="6197600" y="3520439"/>
            <a:ext cx="5181600" cy="1308100"/>
          </a:xfrm>
          <a:prstGeom prst="roundRect">
            <a:avLst>
              <a:gd name="adj" fmla="val 5825"/>
            </a:avLst>
          </a:prstGeom>
          <a:solidFill>
            <a:srgbClr val="BFD9F8"/>
          </a:solidFill>
          <a:ln/>
        </p:spPr>
      </p:sp>
      <p:sp>
        <p:nvSpPr>
          <p:cNvPr id="18" name="Text 16"/>
          <p:cNvSpPr/>
          <p:nvPr/>
        </p:nvSpPr>
        <p:spPr>
          <a:xfrm>
            <a:off x="6477000" y="3890011"/>
            <a:ext cx="685800" cy="59436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1F2A44"/>
                </a:solidFill>
                <a:latin typeface="Poppins" pitchFamily="34" charset="0"/>
                <a:ea typeface="Poppins" pitchFamily="34" charset="-122"/>
                <a:cs typeface="Poppins" pitchFamily="34" charset="-120"/>
              </a:rPr>
              <a:t>04</a:t>
            </a:r>
            <a:endParaRPr lang="en-US" sz="3200" dirty="0"/>
          </a:p>
        </p:txBody>
      </p:sp>
      <p:sp>
        <p:nvSpPr>
          <p:cNvPr id="19" name="Shape 17"/>
          <p:cNvSpPr/>
          <p:nvPr/>
        </p:nvSpPr>
        <p:spPr>
          <a:xfrm>
            <a:off x="7315200" y="3774439"/>
            <a:ext cx="25400" cy="800100"/>
          </a:xfrm>
          <a:prstGeom prst="rect">
            <a:avLst/>
          </a:prstGeom>
          <a:solidFill>
            <a:srgbClr val="63A4FA"/>
          </a:solidFill>
          <a:ln/>
        </p:spPr>
      </p:sp>
      <p:sp>
        <p:nvSpPr>
          <p:cNvPr id="20" name="Text 18"/>
          <p:cNvSpPr/>
          <p:nvPr/>
        </p:nvSpPr>
        <p:spPr>
          <a:xfrm>
            <a:off x="7543800" y="3774439"/>
            <a:ext cx="3662680" cy="825500"/>
          </a:xfrm>
          <a:prstGeom prst="rect">
            <a:avLst/>
          </a:prstGeom>
          <a:noFill/>
          <a:ln/>
        </p:spPr>
        <p:txBody>
          <a:bodyPr wrap="square" lIns="0" tIns="0" rIns="0" bIns="0" rtlCol="0" anchor="t">
            <a:noAutofit/>
          </a:bodyPr>
          <a:lstStyle/>
          <a:p>
            <a:pPr marL="0" indent="0" algn="l">
              <a:lnSpc>
                <a:spcPts val="2100"/>
              </a:lnSpc>
              <a:buNone/>
            </a:pPr>
            <a:r>
              <a:rPr lang="es-MX" sz="1500" b="0" i="0" dirty="0">
                <a:solidFill>
                  <a:srgbClr val="1F2A44"/>
                </a:solidFill>
                <a:effectLst/>
                <a:latin typeface="Poppins" panose="00000500000000000000" pitchFamily="2" charset="0"/>
              </a:rPr>
              <a:t>El monitor (+160 %) y la página (+526,3 %) comparan períodos distintos, por eso los porcentajes no coinciden.</a:t>
            </a:r>
            <a:endParaRPr lang="en-US" sz="1500" dirty="0"/>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
</file>

<file path=ppt/theme/theme1.xml><?xml version="1.0" encoding="utf-8"?>
<a:theme xmlns:a="http://schemas.openxmlformats.org/drawingml/2006/main" name="Memoria y procesos sospechosos">
  <a:themeElements>
    <a:clrScheme name="Memoria y procesos sospechosos">
      <a:dk1>
        <a:srgbClr val="4F6BFA"/>
      </a:dk1>
      <a:lt1>
        <a:srgbClr val="FFFFFF"/>
      </a:lt1>
      <a:dk2>
        <a:srgbClr val="7B90FB"/>
      </a:dk2>
      <a:lt2>
        <a:srgbClr val="EDF0FF"/>
      </a:lt2>
      <a:accent1>
        <a:srgbClr val="63A4FA"/>
      </a:accent1>
      <a:accent2>
        <a:srgbClr val="4A5A78"/>
      </a:accent2>
      <a:accent3>
        <a:srgbClr val="0F1F3D"/>
      </a:accent3>
      <a:accent4>
        <a:srgbClr val="BFD9F8"/>
      </a:accent4>
      <a:accent5>
        <a:srgbClr val="B4530A"/>
      </a:accent5>
      <a:accent6>
        <a:srgbClr val="D13438"/>
      </a:accent6>
      <a:hlink>
        <a:srgbClr val="0563C1"/>
      </a:hlink>
      <a:folHlink>
        <a:srgbClr val="954F72"/>
      </a:folHlink>
    </a:clrScheme>
    <a:fontScheme name="Memoria y procesos sospechosos">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860</Words>
  <Application>Microsoft Office PowerPoint</Application>
  <PresentationFormat>Panorámica</PresentationFormat>
  <Paragraphs>80</Paragraphs>
  <Slides>8</Slides>
  <Notes>8</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Arial</vt:lpstr>
      <vt:lpstr>Poppins</vt:lpstr>
      <vt:lpstr>Calibri</vt:lpstr>
      <vt:lpstr>Memoria y procesos sospechosos</vt:lpstr>
      <vt:lpstr>Memoria y procesos sospechosos</vt:lpstr>
      <vt:lpstr>Conceptos</vt:lpstr>
      <vt:lpstr>Cómo funciona la herramienta</vt:lpstr>
      <vt:lpstr>Un simulador y un monitor a la vez</vt:lpstr>
      <vt:lpstr>La memoria privada subió de 52 a 324 MB</vt:lpstr>
      <vt:lpstr>Un mismo evento, dos cálculos</vt:lpstr>
      <vt:lpstr>Estado registrado en el equipo</vt:lpstr>
      <vt:lpstr>Conclusiones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Memoria y procesos sospechosos</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Poppins
Copyright 2020 The Poppins Project Authors (https://github.com/itfoundry/Poppins)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Isabel</cp:lastModifiedBy>
  <cp:revision>3</cp:revision>
  <dcterms:created xsi:type="dcterms:W3CDTF">2026-10-24T20:52:49Z</dcterms:created>
  <dcterms:modified xsi:type="dcterms:W3CDTF">2026-10-24T21:04:32Z</dcterms:modified>
</cp:coreProperties>
</file>